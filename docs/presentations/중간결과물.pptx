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Noto Sans Kr" panose="020B0200000000000000" pitchFamily="34" charset="-128"/>
      <p:regular r:id="rId16"/>
    </p:embeddedFont>
    <p:embeddedFont>
      <p:font typeface="Noto Sans Kr Bold" panose="020B0200000000000000" pitchFamily="34" charset="-128"/>
      <p:regular r:id="rId17"/>
      <p:bold r:id="rId18"/>
    </p:embeddedFont>
    <p:embeddedFont>
      <p:font typeface="Calibri" panose="020F0502020204030204" pitchFamily="34" charset="0"/>
      <p:regular r:id="rId19"/>
      <p:bold r:id="rId20"/>
      <p:italic r:id="rId21"/>
      <p:boldItalic r:id="rId22"/>
    </p:embeddedFont>
    <p:embeddedFont>
      <p:font typeface="DM Sans" pitchFamily="2" charset="0"/>
      <p:regular r:id="rId23"/>
      <p:bold r:id="rId24"/>
      <p:italic r:id="rId25"/>
      <p:boldItalic r:id="rId26"/>
    </p:embeddedFont>
    <p:embeddedFont>
      <p:font typeface="DM Sans Bold" pitchFamily="2" charset="0"/>
      <p:regular r:id="rId27"/>
      <p:bold r:id="rId28"/>
    </p:embeddedFont>
    <p:embeddedFont>
      <p:font typeface="Georgia Pro Light" panose="020F0302020204030204" pitchFamily="34" charset="0"/>
      <p:regular r:id="rId29"/>
      <p:italic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94626" autoAdjust="0"/>
  </p:normalViewPr>
  <p:slideViewPr>
    <p:cSldViewPr>
      <p:cViewPr varScale="1">
        <p:scale>
          <a:sx n="80" d="100"/>
          <a:sy n="80" d="100"/>
        </p:scale>
        <p:origin x="824" y="2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8.fntdata"/><Relationship Id="rId28"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package" Target="../embeddings/Microsoft_Excel_____.xlsx"/><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package" Target="../embeddings/Microsoft_Excel_____1.xlsx"/><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hyperlink" Target="https://colab.research.google.com/drive/185nZPzUIvrPj1BpXqUY7lprbxn8-7CbP?authuser=1#scrollTo=8hndqgx8ODge"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8991600" cy="10287000"/>
            <a:chOff x="0" y="0"/>
            <a:chExt cx="1035548" cy="1184737"/>
          </a:xfrm>
        </p:grpSpPr>
        <p:sp>
          <p:nvSpPr>
            <p:cNvPr id="3" name="Freeform 3"/>
            <p:cNvSpPr/>
            <p:nvPr/>
          </p:nvSpPr>
          <p:spPr>
            <a:xfrm>
              <a:off x="0" y="0"/>
              <a:ext cx="1035548" cy="1184737"/>
            </a:xfrm>
            <a:custGeom>
              <a:avLst/>
              <a:gdLst/>
              <a:ahLst/>
              <a:cxnLst/>
              <a:rect l="l" t="t" r="r" b="b"/>
              <a:pathLst>
                <a:path w="1035548" h="1184737">
                  <a:moveTo>
                    <a:pt x="0" y="0"/>
                  </a:moveTo>
                  <a:lnTo>
                    <a:pt x="1035548" y="0"/>
                  </a:lnTo>
                  <a:lnTo>
                    <a:pt x="1035548" y="1184737"/>
                  </a:lnTo>
                  <a:lnTo>
                    <a:pt x="0" y="1184737"/>
                  </a:lnTo>
                  <a:close/>
                </a:path>
              </a:pathLst>
            </a:custGeom>
            <a:blipFill>
              <a:blip r:embed="rId2"/>
              <a:stretch>
                <a:fillRect t="-8484" b="-8484"/>
              </a:stretch>
            </a:blipFill>
          </p:spPr>
          <p:txBody>
            <a:bodyPr/>
            <a:lstStyle/>
            <a:p>
              <a:endParaRPr lang="ko-KR" altLang="en-US"/>
            </a:p>
          </p:txBody>
        </p:sp>
      </p:grpSp>
      <p:grpSp>
        <p:nvGrpSpPr>
          <p:cNvPr id="4" name="Group 4"/>
          <p:cNvGrpSpPr/>
          <p:nvPr/>
        </p:nvGrpSpPr>
        <p:grpSpPr>
          <a:xfrm>
            <a:off x="10734675" y="1562100"/>
            <a:ext cx="6886575" cy="5026734"/>
            <a:chOff x="0" y="0"/>
            <a:chExt cx="9182100" cy="6702312"/>
          </a:xfrm>
        </p:grpSpPr>
        <p:sp>
          <p:nvSpPr>
            <p:cNvPr id="5" name="TextBox 5"/>
            <p:cNvSpPr txBox="1"/>
            <p:nvPr/>
          </p:nvSpPr>
          <p:spPr>
            <a:xfrm>
              <a:off x="0" y="152400"/>
              <a:ext cx="9182100" cy="5503334"/>
            </a:xfrm>
            <a:prstGeom prst="rect">
              <a:avLst/>
            </a:prstGeom>
          </p:spPr>
          <p:txBody>
            <a:bodyPr lIns="0" tIns="0" rIns="0" bIns="0" rtlCol="0" anchor="t">
              <a:spAutoFit/>
            </a:bodyPr>
            <a:lstStyle/>
            <a:p>
              <a:pPr algn="l">
                <a:lnSpc>
                  <a:spcPts val="8000"/>
                </a:lnSpc>
              </a:pPr>
              <a:r>
                <a:rPr lang="en-US" sz="8000" b="1">
                  <a:solidFill>
                    <a:srgbClr val="0A3D62"/>
                  </a:solidFill>
                  <a:latin typeface="Noto Sans Kr Bold"/>
                  <a:ea typeface="Noto Sans Kr Bold"/>
                  <a:cs typeface="Noto Sans Kr Bold"/>
                  <a:sym typeface="Noto Sans Kr Bold"/>
                </a:rPr>
                <a:t>신뢰도 지표 기반 거래 필터링 프레임워크 </a:t>
              </a:r>
            </a:p>
            <a:p>
              <a:pPr marL="0" lvl="0" indent="0" algn="l">
                <a:lnSpc>
                  <a:spcPts val="8000"/>
                </a:lnSpc>
              </a:pPr>
              <a:r>
                <a:rPr lang="en-US" sz="8000" b="1">
                  <a:solidFill>
                    <a:srgbClr val="0A3D62"/>
                  </a:solidFill>
                  <a:latin typeface="Noto Sans Kr Bold"/>
                  <a:ea typeface="Noto Sans Kr Bold"/>
                  <a:cs typeface="Noto Sans Kr Bold"/>
                  <a:sym typeface="Noto Sans Kr Bold"/>
                </a:rPr>
                <a:t>(C- index)</a:t>
              </a:r>
            </a:p>
          </p:txBody>
        </p:sp>
        <p:sp>
          <p:nvSpPr>
            <p:cNvPr id="6" name="TextBox 6"/>
            <p:cNvSpPr txBox="1"/>
            <p:nvPr/>
          </p:nvSpPr>
          <p:spPr>
            <a:xfrm>
              <a:off x="0" y="5906657"/>
              <a:ext cx="9172670" cy="795655"/>
            </a:xfrm>
            <a:prstGeom prst="rect">
              <a:avLst/>
            </a:prstGeom>
          </p:spPr>
          <p:txBody>
            <a:bodyPr lIns="0" tIns="0" rIns="0" bIns="0" rtlCol="0" anchor="t">
              <a:spAutoFit/>
            </a:bodyPr>
            <a:lstStyle/>
            <a:p>
              <a:pPr marL="0" lvl="0" indent="0" algn="l">
                <a:lnSpc>
                  <a:spcPts val="5039"/>
                </a:lnSpc>
              </a:pPr>
              <a:r>
                <a:rPr lang="en-US" sz="3599">
                  <a:solidFill>
                    <a:srgbClr val="3C6382"/>
                  </a:solidFill>
                  <a:latin typeface="Noto Sans Kr"/>
                  <a:ea typeface="Noto Sans Kr"/>
                  <a:cs typeface="Noto Sans Kr"/>
                  <a:sym typeface="Noto Sans Kr"/>
                </a:rPr>
                <a:t>연구 중간보고서</a:t>
              </a:r>
            </a:p>
          </p:txBody>
        </p:sp>
      </p:grpSp>
      <p:grpSp>
        <p:nvGrpSpPr>
          <p:cNvPr id="7" name="Group 7"/>
          <p:cNvGrpSpPr/>
          <p:nvPr/>
        </p:nvGrpSpPr>
        <p:grpSpPr>
          <a:xfrm>
            <a:off x="10734675" y="7881134"/>
            <a:ext cx="5743575" cy="888872"/>
            <a:chOff x="0" y="0"/>
            <a:chExt cx="7658100" cy="1185162"/>
          </a:xfrm>
        </p:grpSpPr>
        <p:sp>
          <p:nvSpPr>
            <p:cNvPr id="8" name="TextBox 8"/>
            <p:cNvSpPr txBox="1"/>
            <p:nvPr/>
          </p:nvSpPr>
          <p:spPr>
            <a:xfrm>
              <a:off x="0" y="700869"/>
              <a:ext cx="7658100" cy="484293"/>
            </a:xfrm>
            <a:prstGeom prst="rect">
              <a:avLst/>
            </a:prstGeom>
          </p:spPr>
          <p:txBody>
            <a:bodyPr lIns="0" tIns="0" rIns="0" bIns="0" rtlCol="0" anchor="t">
              <a:spAutoFit/>
            </a:bodyPr>
            <a:lstStyle/>
            <a:p>
              <a:pPr marL="0" lvl="0" indent="0" algn="l">
                <a:lnSpc>
                  <a:spcPts val="3080"/>
                </a:lnSpc>
                <a:spcBef>
                  <a:spcPct val="0"/>
                </a:spcBef>
              </a:pPr>
              <a:r>
                <a:rPr lang="en-US" sz="2200">
                  <a:solidFill>
                    <a:srgbClr val="0A3D62"/>
                  </a:solidFill>
                  <a:latin typeface="Noto Sans Kr"/>
                  <a:ea typeface="Noto Sans Kr"/>
                  <a:cs typeface="Noto Sans Kr"/>
                  <a:sym typeface="Noto Sans Kr"/>
                </a:rPr>
                <a:t>강병오 (2019102613)</a:t>
              </a:r>
            </a:p>
          </p:txBody>
        </p:sp>
        <p:sp>
          <p:nvSpPr>
            <p:cNvPr id="9" name="TextBox 9"/>
            <p:cNvSpPr txBox="1"/>
            <p:nvPr/>
          </p:nvSpPr>
          <p:spPr>
            <a:xfrm>
              <a:off x="0" y="-47625"/>
              <a:ext cx="7658100" cy="569172"/>
            </a:xfrm>
            <a:prstGeom prst="rect">
              <a:avLst/>
            </a:prstGeom>
          </p:spPr>
          <p:txBody>
            <a:bodyPr lIns="0" tIns="0" rIns="0" bIns="0" rtlCol="0" anchor="t">
              <a:spAutoFit/>
            </a:bodyPr>
            <a:lstStyle/>
            <a:p>
              <a:pPr marL="0" lvl="0" indent="0" algn="l">
                <a:lnSpc>
                  <a:spcPts val="3640"/>
                </a:lnSpc>
                <a:spcBef>
                  <a:spcPct val="0"/>
                </a:spcBef>
              </a:pPr>
              <a:r>
                <a:rPr lang="en-US" sz="2600" b="1">
                  <a:solidFill>
                    <a:srgbClr val="3C6382"/>
                  </a:solidFill>
                  <a:latin typeface="Noto Sans Kr Bold"/>
                  <a:ea typeface="Noto Sans Kr Bold"/>
                  <a:cs typeface="Noto Sans Kr Bold"/>
                  <a:sym typeface="Noto Sans Kr Bold"/>
                </a:rPr>
                <a:t>경희대학교 컴퓨터공학과 4학년</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11807179" cy="10721768"/>
            <a:chOff x="0" y="0"/>
            <a:chExt cx="15742906" cy="14295691"/>
          </a:xfrm>
        </p:grpSpPr>
        <p:sp>
          <p:nvSpPr>
            <p:cNvPr id="3" name="TextBox 3"/>
            <p:cNvSpPr txBox="1"/>
            <p:nvPr/>
          </p:nvSpPr>
          <p:spPr>
            <a:xfrm>
              <a:off x="0" y="13833475"/>
              <a:ext cx="10522714" cy="462216"/>
            </a:xfrm>
            <a:prstGeom prst="rect">
              <a:avLst/>
            </a:prstGeom>
          </p:spPr>
          <p:txBody>
            <a:bodyPr lIns="0" tIns="0" rIns="0" bIns="0" rtlCol="0" anchor="t">
              <a:spAutoFit/>
            </a:bodyPr>
            <a:lstStyle/>
            <a:p>
              <a:pPr marL="0" lvl="0" indent="0" algn="l">
                <a:lnSpc>
                  <a:spcPts val="2939"/>
                </a:lnSpc>
              </a:pPr>
              <a:endParaRPr/>
            </a:p>
          </p:txBody>
        </p:sp>
        <p:sp>
          <p:nvSpPr>
            <p:cNvPr id="4" name="TextBox 4"/>
            <p:cNvSpPr txBox="1"/>
            <p:nvPr/>
          </p:nvSpPr>
          <p:spPr>
            <a:xfrm>
              <a:off x="0" y="76200"/>
              <a:ext cx="13423900" cy="1545171"/>
            </a:xfrm>
            <a:prstGeom prst="rect">
              <a:avLst/>
            </a:prstGeom>
          </p:spPr>
          <p:txBody>
            <a:bodyPr lIns="0" tIns="0" rIns="0" bIns="0" rtlCol="0" anchor="t">
              <a:spAutoFit/>
            </a:bodyPr>
            <a:lstStyle/>
            <a:p>
              <a:pPr marL="0" lvl="0" indent="0" algn="l">
                <a:lnSpc>
                  <a:spcPts val="8800"/>
                </a:lnSpc>
                <a:spcBef>
                  <a:spcPct val="0"/>
                </a:spcBef>
              </a:pPr>
              <a:r>
                <a:rPr lang="en-US" sz="8000" b="1">
                  <a:solidFill>
                    <a:srgbClr val="0A3D62"/>
                  </a:solidFill>
                  <a:latin typeface="Noto Sans Kr Bold"/>
                  <a:ea typeface="Noto Sans Kr Bold"/>
                  <a:cs typeface="Noto Sans Kr Bold"/>
                  <a:sym typeface="Noto Sans Kr Bold"/>
                </a:rPr>
                <a:t>연구 배경 및 목적</a:t>
              </a:r>
            </a:p>
          </p:txBody>
        </p:sp>
        <p:sp>
          <p:nvSpPr>
            <p:cNvPr id="5" name="TextBox 5"/>
            <p:cNvSpPr txBox="1"/>
            <p:nvPr/>
          </p:nvSpPr>
          <p:spPr>
            <a:xfrm>
              <a:off x="22395" y="2047875"/>
              <a:ext cx="15720510" cy="10627572"/>
            </a:xfrm>
            <a:prstGeom prst="rect">
              <a:avLst/>
            </a:prstGeom>
          </p:spPr>
          <p:txBody>
            <a:bodyPr lIns="0" tIns="0" rIns="0" bIns="0" rtlCol="0" anchor="t">
              <a:spAutoFit/>
            </a:bodyPr>
            <a:lstStyle/>
            <a:p>
              <a:pPr algn="l">
                <a:lnSpc>
                  <a:spcPts val="3640"/>
                </a:lnSpc>
              </a:pPr>
              <a:r>
                <a:rPr lang="en-US" sz="2600" b="1">
                  <a:solidFill>
                    <a:srgbClr val="3C6382"/>
                  </a:solidFill>
                  <a:latin typeface="Noto Sans Kr Bold"/>
                  <a:ea typeface="Noto Sans Kr Bold"/>
                  <a:cs typeface="Noto Sans Kr Bold"/>
                  <a:sym typeface="Noto Sans Kr Bold"/>
                </a:rPr>
                <a:t>연구 배경 </a:t>
              </a:r>
            </a:p>
            <a:p>
              <a:pPr marL="496571" lvl="1" indent="-248285" algn="l">
                <a:lnSpc>
                  <a:spcPts val="3220"/>
                </a:lnSpc>
                <a:buFont typeface="Arial"/>
                <a:buChar char="•"/>
              </a:pPr>
              <a:r>
                <a:rPr lang="en-US" sz="2300">
                  <a:solidFill>
                    <a:srgbClr val="3C6382"/>
                  </a:solidFill>
                  <a:latin typeface="Noto Sans Kr"/>
                  <a:ea typeface="Noto Sans Kr"/>
                  <a:cs typeface="Noto Sans Kr"/>
                  <a:sym typeface="Noto Sans Kr"/>
                </a:rPr>
                <a:t>금융 시계열 예측 모델은 주로 예측 정확도 중심으로 평가되나, 실제 운용에서는 해당 시점의 예측을 신뢰할 수 있었는지가 더 중요한 판단 기준임.</a:t>
              </a:r>
            </a:p>
            <a:p>
              <a:pPr marL="496571" lvl="1" indent="-248285" algn="l">
                <a:lnSpc>
                  <a:spcPts val="3220"/>
                </a:lnSpc>
                <a:buFont typeface="Arial"/>
                <a:buChar char="•"/>
              </a:pPr>
              <a:r>
                <a:rPr lang="en-US" sz="2300">
                  <a:solidFill>
                    <a:srgbClr val="3C6382"/>
                  </a:solidFill>
                  <a:latin typeface="Noto Sans Kr"/>
                  <a:ea typeface="Noto Sans Kr"/>
                  <a:cs typeface="Noto Sans Kr"/>
                  <a:sym typeface="Noto Sans Kr"/>
                </a:rPr>
                <a:t>금융 시장은 비정상성과 레짐 변화가 빈번하여, 동일한 예측 확률이라도 모델의 판단 근거는 시점별로 불안정해질 수 있음.</a:t>
              </a:r>
            </a:p>
            <a:p>
              <a:pPr marL="496571" lvl="1" indent="-248285" algn="l">
                <a:lnSpc>
                  <a:spcPts val="3220"/>
                </a:lnSpc>
                <a:buFont typeface="Arial"/>
                <a:buChar char="•"/>
              </a:pPr>
              <a:r>
                <a:rPr lang="en-US" sz="2300">
                  <a:solidFill>
                    <a:srgbClr val="3C6382"/>
                  </a:solidFill>
                  <a:latin typeface="Noto Sans Kr"/>
                  <a:ea typeface="Noto Sans Kr"/>
                  <a:cs typeface="Noto Sans Kr"/>
                  <a:sym typeface="Noto Sans Kr"/>
                </a:rPr>
                <a:t>기존 XAI 기법들은 개별 설명의 해석에는 유용하나, 설명 결과 간 불일치 자체를 신뢰도 신호로 활용하지는 않음. 특히 시장 불확실성이 확대되는 국면에서, 모델 판단의 불안정성은 설명 기법 간 중요도 랭킹 불일치로 관측되는 경향이 있음.</a:t>
              </a:r>
            </a:p>
            <a:p>
              <a:pPr algn="l">
                <a:lnSpc>
                  <a:spcPts val="3640"/>
                </a:lnSpc>
              </a:pPr>
              <a:endParaRPr lang="en-US" sz="2300">
                <a:solidFill>
                  <a:srgbClr val="3C6382"/>
                </a:solidFill>
                <a:latin typeface="Noto Sans Kr"/>
                <a:ea typeface="Noto Sans Kr"/>
                <a:cs typeface="Noto Sans Kr"/>
                <a:sym typeface="Noto Sans Kr"/>
              </a:endParaRPr>
            </a:p>
            <a:p>
              <a:pPr algn="l">
                <a:lnSpc>
                  <a:spcPts val="3640"/>
                </a:lnSpc>
              </a:pPr>
              <a:r>
                <a:rPr lang="en-US" sz="2600" b="1">
                  <a:solidFill>
                    <a:srgbClr val="3C6382"/>
                  </a:solidFill>
                  <a:latin typeface="Noto Sans Kr Bold"/>
                  <a:ea typeface="Noto Sans Kr Bold"/>
                  <a:cs typeface="Noto Sans Kr Bold"/>
                  <a:sym typeface="Noto Sans Kr Bold"/>
                </a:rPr>
                <a:t>연구 목적</a:t>
              </a:r>
            </a:p>
            <a:p>
              <a:pPr algn="l">
                <a:lnSpc>
                  <a:spcPts val="3220"/>
                </a:lnSpc>
              </a:pPr>
              <a:r>
                <a:rPr lang="en-US" sz="2300">
                  <a:solidFill>
                    <a:srgbClr val="3C6382"/>
                  </a:solidFill>
                  <a:latin typeface="Noto Sans Kr"/>
                  <a:ea typeface="Noto Sans Kr"/>
                  <a:cs typeface="Noto Sans Kr"/>
                  <a:sym typeface="Noto Sans Kr"/>
                </a:rPr>
                <a:t>본 연구의 목적은 예측 모델의 구조나 학습 방식에 의존하지 않고, 특정 시점의 매수·매도 판단이 구조적으로 신뢰 가능한 상태인지를 평가할 수 있는 Model Agnostic한 거래 의사결정 프레임워크를 개발하는 데 있음. 이를 위해 동일한 모델·동일한 데이터 구간에서 산출된 복수의 XAI 기법 간 피처 중요도 랭킹의 합의 수준을 정량화한 신뢰도 지표(C-index)를 정의하고, 해당 지표를 거래 진입·회피를 결정하는 필터링 기준으로 활용하는 방안을 제시함</a:t>
              </a:r>
            </a:p>
            <a:p>
              <a:pPr algn="l">
                <a:lnSpc>
                  <a:spcPts val="3640"/>
                </a:lnSpc>
              </a:pPr>
              <a:endParaRPr lang="en-US" sz="2300">
                <a:solidFill>
                  <a:srgbClr val="3C6382"/>
                </a:solidFill>
                <a:latin typeface="Noto Sans Kr"/>
                <a:ea typeface="Noto Sans Kr"/>
                <a:cs typeface="Noto Sans Kr"/>
                <a:sym typeface="Noto Sans Kr"/>
              </a:endParaRPr>
            </a:p>
            <a:p>
              <a:pPr algn="l">
                <a:lnSpc>
                  <a:spcPts val="3640"/>
                </a:lnSpc>
              </a:pPr>
              <a:endParaRPr lang="en-US" sz="2300">
                <a:solidFill>
                  <a:srgbClr val="3C6382"/>
                </a:solidFill>
                <a:latin typeface="Noto Sans Kr"/>
                <a:ea typeface="Noto Sans Kr"/>
                <a:cs typeface="Noto Sans Kr"/>
                <a:sym typeface="Noto Sans Kr"/>
              </a:endParaRPr>
            </a:p>
            <a:p>
              <a:pPr algn="l">
                <a:lnSpc>
                  <a:spcPts val="3640"/>
                </a:lnSpc>
              </a:pPr>
              <a:endParaRPr lang="en-US" sz="2300">
                <a:solidFill>
                  <a:srgbClr val="3C6382"/>
                </a:solidFill>
                <a:latin typeface="Noto Sans Kr"/>
                <a:ea typeface="Noto Sans Kr"/>
                <a:cs typeface="Noto Sans Kr"/>
                <a:sym typeface="Noto Sans Kr"/>
              </a:endParaRPr>
            </a:p>
            <a:p>
              <a:pPr marL="0" lvl="0" indent="0" algn="l">
                <a:lnSpc>
                  <a:spcPts val="3640"/>
                </a:lnSpc>
              </a:pPr>
              <a:endParaRPr lang="en-US" sz="2300">
                <a:solidFill>
                  <a:srgbClr val="3C6382"/>
                </a:solidFill>
                <a:latin typeface="Noto Sans Kr"/>
                <a:ea typeface="Noto Sans Kr"/>
                <a:cs typeface="Noto Sans Kr"/>
                <a:sym typeface="Noto Sans Kr"/>
              </a:endParaRPr>
            </a:p>
          </p:txBody>
        </p:sp>
      </p:grpSp>
      <p:sp>
        <p:nvSpPr>
          <p:cNvPr id="6" name="TextBox 6"/>
          <p:cNvSpPr txBox="1"/>
          <p:nvPr/>
        </p:nvSpPr>
        <p:spPr>
          <a:xfrm>
            <a:off x="8897503" y="9707753"/>
            <a:ext cx="492993" cy="447675"/>
          </a:xfrm>
          <a:prstGeom prst="rect">
            <a:avLst/>
          </a:prstGeom>
        </p:spPr>
        <p:txBody>
          <a:bodyPr lIns="0" tIns="0" rIns="0" bIns="0" rtlCol="0" anchor="t">
            <a:spAutoFit/>
          </a:bodyPr>
          <a:lstStyle/>
          <a:p>
            <a:pPr algn="ctr">
              <a:lnSpc>
                <a:spcPts val="3300"/>
              </a:lnSpc>
              <a:spcBef>
                <a:spcPct val="0"/>
              </a:spcBef>
            </a:pPr>
            <a:r>
              <a:rPr lang="en-US" sz="3000">
                <a:solidFill>
                  <a:srgbClr val="000000"/>
                </a:solidFill>
                <a:latin typeface="Georgia Pro Light"/>
                <a:ea typeface="Georgia Pro Light"/>
                <a:cs typeface="Georgia Pro Light"/>
                <a:sym typeface="Georgia Pro Light"/>
              </a:rPr>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graphicFrame>
        <p:nvGraphicFramePr>
          <p:cNvPr id="2" name="Object 2"/>
          <p:cNvGraphicFramePr/>
          <p:nvPr>
            <p:extLst>
              <p:ext uri="{D42A27DB-BD31-4B8C-83A1-F6EECF244321}">
                <p14:modId xmlns:p14="http://schemas.microsoft.com/office/powerpoint/2010/main" val="581039640"/>
              </p:ext>
            </p:extLst>
          </p:nvPr>
        </p:nvGraphicFramePr>
        <p:xfrm>
          <a:off x="670761" y="5247044"/>
          <a:ext cx="15586076" cy="3390900"/>
        </p:xfrm>
        <a:graphic>
          <a:graphicData uri="http://schemas.openxmlformats.org/presentationml/2006/ole">
            <mc:AlternateContent xmlns:mc="http://schemas.openxmlformats.org/markup-compatibility/2006">
              <mc:Choice xmlns:v="urn:schemas-microsoft-com:vml" Requires="v">
                <p:oleObj name="워크시트" r:id="rId2" imgW="18681700" imgH="4064000" progId="Excel.Sheet.12">
                  <p:embed/>
                </p:oleObj>
              </mc:Choice>
              <mc:Fallback>
                <p:oleObj name="워크시트" r:id="rId2" imgW="18681700" imgH="4064000" progId="Excel.Sheet.12">
                  <p:embed/>
                  <p:pic>
                    <p:nvPicPr>
                      <p:cNvPr id="0" name=""/>
                      <p:cNvPicPr/>
                      <p:nvPr/>
                    </p:nvPicPr>
                    <p:blipFill>
                      <a:blip r:embed="rId3"/>
                      <a:stretch>
                        <a:fillRect/>
                      </a:stretch>
                    </p:blipFill>
                    <p:spPr>
                      <a:xfrm>
                        <a:off x="670761" y="5247044"/>
                        <a:ext cx="15586076" cy="3390900"/>
                      </a:xfrm>
                      <a:prstGeom prst="rect">
                        <a:avLst/>
                      </a:prstGeom>
                    </p:spPr>
                  </p:pic>
                </p:oleObj>
              </mc:Fallback>
            </mc:AlternateContent>
          </a:graphicData>
        </a:graphic>
      </p:graphicFrame>
      <p:grpSp>
        <p:nvGrpSpPr>
          <p:cNvPr id="3" name="Group 3"/>
          <p:cNvGrpSpPr/>
          <p:nvPr/>
        </p:nvGrpSpPr>
        <p:grpSpPr>
          <a:xfrm>
            <a:off x="666750" y="231156"/>
            <a:ext cx="14165774" cy="3113351"/>
            <a:chOff x="0" y="0"/>
            <a:chExt cx="18887698" cy="4151134"/>
          </a:xfrm>
        </p:grpSpPr>
        <p:sp>
          <p:nvSpPr>
            <p:cNvPr id="4" name="TextBox 4"/>
            <p:cNvSpPr txBox="1"/>
            <p:nvPr/>
          </p:nvSpPr>
          <p:spPr>
            <a:xfrm>
              <a:off x="0" y="76200"/>
              <a:ext cx="11099800" cy="1545171"/>
            </a:xfrm>
            <a:prstGeom prst="rect">
              <a:avLst/>
            </a:prstGeom>
          </p:spPr>
          <p:txBody>
            <a:bodyPr lIns="0" tIns="0" rIns="0" bIns="0" rtlCol="0" anchor="t">
              <a:spAutoFit/>
            </a:bodyPr>
            <a:lstStyle/>
            <a:p>
              <a:pPr marL="0" lvl="0" indent="0" algn="l">
                <a:lnSpc>
                  <a:spcPts val="8800"/>
                </a:lnSpc>
              </a:pPr>
              <a:r>
                <a:rPr lang="en-US" sz="8000" b="1">
                  <a:solidFill>
                    <a:srgbClr val="0A3D62"/>
                  </a:solidFill>
                  <a:latin typeface="Noto Sans Kr Bold"/>
                  <a:ea typeface="Noto Sans Kr Bold"/>
                  <a:cs typeface="Noto Sans Kr Bold"/>
                  <a:sym typeface="Noto Sans Kr Bold"/>
                </a:rPr>
                <a:t>문제 정의</a:t>
              </a:r>
            </a:p>
          </p:txBody>
        </p:sp>
        <p:sp>
          <p:nvSpPr>
            <p:cNvPr id="5" name="TextBox 5"/>
            <p:cNvSpPr txBox="1"/>
            <p:nvPr/>
          </p:nvSpPr>
          <p:spPr>
            <a:xfrm>
              <a:off x="0" y="2047803"/>
              <a:ext cx="18887698" cy="2103332"/>
            </a:xfrm>
            <a:prstGeom prst="rect">
              <a:avLst/>
            </a:prstGeom>
          </p:spPr>
          <p:txBody>
            <a:bodyPr lIns="0" tIns="0" rIns="0" bIns="0" rtlCol="0" anchor="t">
              <a:spAutoFit/>
            </a:bodyPr>
            <a:lstStyle/>
            <a:p>
              <a:pPr algn="l">
                <a:lnSpc>
                  <a:spcPts val="3220"/>
                </a:lnSpc>
              </a:pPr>
              <a:r>
                <a:rPr lang="en-US" sz="2300" dirty="0" err="1">
                  <a:solidFill>
                    <a:srgbClr val="0A3D62"/>
                  </a:solidFill>
                  <a:latin typeface="Noto Sans Kr"/>
                  <a:ea typeface="Noto Sans Kr"/>
                  <a:cs typeface="Noto Sans Kr"/>
                  <a:sym typeface="Noto Sans Kr"/>
                </a:rPr>
                <a:t>금융</a:t>
              </a:r>
              <a:r>
                <a:rPr lang="en-US" sz="2300" dirty="0">
                  <a:solidFill>
                    <a:srgbClr val="0A3D62"/>
                  </a:solidFill>
                  <a:latin typeface="Noto Sans Kr"/>
                  <a:ea typeface="Noto Sans Kr"/>
                  <a:cs typeface="Noto Sans Kr"/>
                  <a:sym typeface="Noto Sans Kr"/>
                </a:rPr>
                <a:t> </a:t>
              </a:r>
              <a:r>
                <a:rPr lang="en-US" sz="2300" dirty="0" err="1">
                  <a:solidFill>
                    <a:srgbClr val="0A3D62"/>
                  </a:solidFill>
                  <a:latin typeface="Noto Sans Kr"/>
                  <a:ea typeface="Noto Sans Kr"/>
                  <a:cs typeface="Noto Sans Kr"/>
                  <a:sym typeface="Noto Sans Kr"/>
                </a:rPr>
                <a:t>시계열</a:t>
              </a:r>
              <a:r>
                <a:rPr lang="en-US" sz="2300" dirty="0">
                  <a:solidFill>
                    <a:srgbClr val="0A3D62"/>
                  </a:solidFill>
                  <a:latin typeface="Noto Sans Kr"/>
                  <a:ea typeface="Noto Sans Kr"/>
                  <a:cs typeface="Noto Sans Kr"/>
                  <a:sym typeface="Noto Sans Kr"/>
                </a:rPr>
                <a:t> </a:t>
              </a:r>
              <a:r>
                <a:rPr lang="en-US" sz="2300" dirty="0" err="1">
                  <a:solidFill>
                    <a:srgbClr val="0A3D62"/>
                  </a:solidFill>
                  <a:latin typeface="Noto Sans Kr"/>
                  <a:ea typeface="Noto Sans Kr"/>
                  <a:cs typeface="Noto Sans Kr"/>
                  <a:sym typeface="Noto Sans Kr"/>
                </a:rPr>
                <a:t>예측</a:t>
              </a:r>
              <a:r>
                <a:rPr lang="en-US" sz="2300" dirty="0">
                  <a:solidFill>
                    <a:srgbClr val="0A3D62"/>
                  </a:solidFill>
                  <a:latin typeface="Noto Sans Kr"/>
                  <a:ea typeface="Noto Sans Kr"/>
                  <a:cs typeface="Noto Sans Kr"/>
                  <a:sym typeface="Noto Sans Kr"/>
                </a:rPr>
                <a:t> </a:t>
              </a:r>
              <a:r>
                <a:rPr lang="en-US" sz="2300" dirty="0" err="1">
                  <a:solidFill>
                    <a:srgbClr val="0A3D62"/>
                  </a:solidFill>
                  <a:latin typeface="Noto Sans Kr"/>
                  <a:ea typeface="Noto Sans Kr"/>
                  <a:cs typeface="Noto Sans Kr"/>
                  <a:sym typeface="Noto Sans Kr"/>
                </a:rPr>
                <a:t>모델은</a:t>
              </a:r>
              <a:r>
                <a:rPr lang="en-US" sz="2300" dirty="0">
                  <a:solidFill>
                    <a:srgbClr val="0A3D62"/>
                  </a:solidFill>
                  <a:latin typeface="Noto Sans Kr"/>
                  <a:ea typeface="Noto Sans Kr"/>
                  <a:cs typeface="Noto Sans Kr"/>
                  <a:sym typeface="Noto Sans Kr"/>
                </a:rPr>
                <a:t> </a:t>
              </a:r>
              <a:r>
                <a:rPr lang="en-US" sz="2300" dirty="0" err="1">
                  <a:solidFill>
                    <a:srgbClr val="0A3D62"/>
                  </a:solidFill>
                  <a:latin typeface="Noto Sans Kr"/>
                  <a:ea typeface="Noto Sans Kr"/>
                  <a:cs typeface="Noto Sans Kr"/>
                  <a:sym typeface="Noto Sans Kr"/>
                </a:rPr>
                <a:t>개별</a:t>
              </a:r>
              <a:r>
                <a:rPr lang="en-US" sz="2300" dirty="0">
                  <a:solidFill>
                    <a:srgbClr val="0A3D62"/>
                  </a:solidFill>
                  <a:latin typeface="Noto Sans Kr"/>
                  <a:ea typeface="Noto Sans Kr"/>
                  <a:cs typeface="Noto Sans Kr"/>
                  <a:sym typeface="Noto Sans Kr"/>
                </a:rPr>
                <a:t> </a:t>
              </a:r>
              <a:r>
                <a:rPr lang="en-US" sz="2300" dirty="0" err="1">
                  <a:solidFill>
                    <a:srgbClr val="0A3D62"/>
                  </a:solidFill>
                  <a:latin typeface="Noto Sans Kr"/>
                  <a:ea typeface="Noto Sans Kr"/>
                  <a:cs typeface="Noto Sans Kr"/>
                  <a:sym typeface="Noto Sans Kr"/>
                </a:rPr>
                <a:t>시점에서</a:t>
              </a:r>
              <a:r>
                <a:rPr lang="en-US" sz="2300" dirty="0">
                  <a:solidFill>
                    <a:srgbClr val="0A3D62"/>
                  </a:solidFill>
                  <a:latin typeface="Noto Sans Kr"/>
                  <a:ea typeface="Noto Sans Kr"/>
                  <a:cs typeface="Noto Sans Kr"/>
                  <a:sym typeface="Noto Sans Kr"/>
                </a:rPr>
                <a:t> </a:t>
              </a:r>
              <a:r>
                <a:rPr lang="en-US" sz="2300" dirty="0" err="1">
                  <a:solidFill>
                    <a:srgbClr val="0A3D62"/>
                  </a:solidFill>
                  <a:latin typeface="Noto Sans Kr"/>
                  <a:ea typeface="Noto Sans Kr"/>
                  <a:cs typeface="Noto Sans Kr"/>
                  <a:sym typeface="Noto Sans Kr"/>
                </a:rPr>
                <a:t>높은</a:t>
              </a:r>
              <a:r>
                <a:rPr lang="en-US" sz="2300" dirty="0">
                  <a:solidFill>
                    <a:srgbClr val="0A3D62"/>
                  </a:solidFill>
                  <a:latin typeface="Noto Sans Kr"/>
                  <a:ea typeface="Noto Sans Kr"/>
                  <a:cs typeface="Noto Sans Kr"/>
                  <a:sym typeface="Noto Sans Kr"/>
                </a:rPr>
                <a:t> </a:t>
              </a:r>
              <a:r>
                <a:rPr lang="en-US" sz="2300" dirty="0" err="1">
                  <a:solidFill>
                    <a:srgbClr val="0A3D62"/>
                  </a:solidFill>
                  <a:latin typeface="Noto Sans Kr"/>
                  <a:ea typeface="Noto Sans Kr"/>
                  <a:cs typeface="Noto Sans Kr"/>
                  <a:sym typeface="Noto Sans Kr"/>
                </a:rPr>
                <a:t>예측</a:t>
              </a:r>
              <a:r>
                <a:rPr lang="en-US" sz="2300" dirty="0">
                  <a:solidFill>
                    <a:srgbClr val="0A3D62"/>
                  </a:solidFill>
                  <a:latin typeface="Noto Sans Kr"/>
                  <a:ea typeface="Noto Sans Kr"/>
                  <a:cs typeface="Noto Sans Kr"/>
                  <a:sym typeface="Noto Sans Kr"/>
                </a:rPr>
                <a:t> </a:t>
              </a:r>
              <a:r>
                <a:rPr lang="en-US" sz="2300" dirty="0" err="1">
                  <a:solidFill>
                    <a:srgbClr val="0A3D62"/>
                  </a:solidFill>
                  <a:latin typeface="Noto Sans Kr"/>
                  <a:ea typeface="Noto Sans Kr"/>
                  <a:cs typeface="Noto Sans Kr"/>
                  <a:sym typeface="Noto Sans Kr"/>
                </a:rPr>
                <a:t>확률을</a:t>
              </a:r>
              <a:r>
                <a:rPr lang="en-US" sz="2300" dirty="0">
                  <a:solidFill>
                    <a:srgbClr val="0A3D62"/>
                  </a:solidFill>
                  <a:latin typeface="Noto Sans Kr"/>
                  <a:ea typeface="Noto Sans Kr"/>
                  <a:cs typeface="Noto Sans Kr"/>
                  <a:sym typeface="Noto Sans Kr"/>
                </a:rPr>
                <a:t> </a:t>
              </a:r>
              <a:r>
                <a:rPr lang="en-US" sz="2300" dirty="0" err="1">
                  <a:solidFill>
                    <a:srgbClr val="0A3D62"/>
                  </a:solidFill>
                  <a:latin typeface="Noto Sans Kr"/>
                  <a:ea typeface="Noto Sans Kr"/>
                  <a:cs typeface="Noto Sans Kr"/>
                  <a:sym typeface="Noto Sans Kr"/>
                </a:rPr>
                <a:t>출력하더라도</a:t>
              </a:r>
              <a:r>
                <a:rPr lang="en-US" sz="2300" dirty="0">
                  <a:solidFill>
                    <a:srgbClr val="0A3D62"/>
                  </a:solidFill>
                  <a:latin typeface="Noto Sans Kr"/>
                  <a:ea typeface="Noto Sans Kr"/>
                  <a:cs typeface="Noto Sans Kr"/>
                  <a:sym typeface="Noto Sans Kr"/>
                </a:rPr>
                <a:t> </a:t>
              </a:r>
              <a:r>
                <a:rPr lang="en-US" sz="2300" dirty="0" err="1">
                  <a:solidFill>
                    <a:srgbClr val="0A3D62"/>
                  </a:solidFill>
                  <a:latin typeface="Noto Sans Kr"/>
                  <a:ea typeface="Noto Sans Kr"/>
                  <a:cs typeface="Noto Sans Kr"/>
                  <a:sym typeface="Noto Sans Kr"/>
                </a:rPr>
                <a:t>해당</a:t>
              </a:r>
              <a:r>
                <a:rPr lang="en-US" sz="2300" dirty="0">
                  <a:solidFill>
                    <a:srgbClr val="0A3D62"/>
                  </a:solidFill>
                  <a:latin typeface="Noto Sans Kr"/>
                  <a:ea typeface="Noto Sans Kr"/>
                  <a:cs typeface="Noto Sans Kr"/>
                  <a:sym typeface="Noto Sans Kr"/>
                </a:rPr>
                <a:t> </a:t>
              </a:r>
              <a:r>
                <a:rPr lang="en-US" sz="2300" dirty="0" err="1">
                  <a:solidFill>
                    <a:srgbClr val="0A3D62"/>
                  </a:solidFill>
                  <a:latin typeface="Noto Sans Kr"/>
                  <a:ea typeface="Noto Sans Kr"/>
                  <a:cs typeface="Noto Sans Kr"/>
                  <a:sym typeface="Noto Sans Kr"/>
                </a:rPr>
                <a:t>판단이</a:t>
              </a:r>
              <a:r>
                <a:rPr lang="en-US" sz="2300" dirty="0">
                  <a:solidFill>
                    <a:srgbClr val="0A3D62"/>
                  </a:solidFill>
                  <a:latin typeface="Noto Sans Kr"/>
                  <a:ea typeface="Noto Sans Kr"/>
                  <a:cs typeface="Noto Sans Kr"/>
                  <a:sym typeface="Noto Sans Kr"/>
                </a:rPr>
                <a:t> </a:t>
              </a:r>
              <a:r>
                <a:rPr lang="en-US" sz="2300" dirty="0" err="1">
                  <a:solidFill>
                    <a:srgbClr val="0A3D62"/>
                  </a:solidFill>
                  <a:latin typeface="Noto Sans Kr"/>
                  <a:ea typeface="Noto Sans Kr"/>
                  <a:cs typeface="Noto Sans Kr"/>
                  <a:sym typeface="Noto Sans Kr"/>
                </a:rPr>
                <a:t>구조적으로</a:t>
              </a:r>
              <a:r>
                <a:rPr lang="en-US" sz="2300" dirty="0">
                  <a:solidFill>
                    <a:srgbClr val="0A3D62"/>
                  </a:solidFill>
                  <a:latin typeface="Noto Sans Kr"/>
                  <a:ea typeface="Noto Sans Kr"/>
                  <a:cs typeface="Noto Sans Kr"/>
                  <a:sym typeface="Noto Sans Kr"/>
                </a:rPr>
                <a:t> </a:t>
              </a:r>
              <a:r>
                <a:rPr lang="en-US" sz="2300" dirty="0" err="1">
                  <a:solidFill>
                    <a:srgbClr val="0A3D62"/>
                  </a:solidFill>
                  <a:latin typeface="Noto Sans Kr"/>
                  <a:ea typeface="Noto Sans Kr"/>
                  <a:cs typeface="Noto Sans Kr"/>
                  <a:sym typeface="Noto Sans Kr"/>
                </a:rPr>
                <a:t>신뢰</a:t>
              </a:r>
              <a:r>
                <a:rPr lang="en-US" sz="2300" dirty="0">
                  <a:solidFill>
                    <a:srgbClr val="0A3D62"/>
                  </a:solidFill>
                  <a:latin typeface="Noto Sans Kr"/>
                  <a:ea typeface="Noto Sans Kr"/>
                  <a:cs typeface="Noto Sans Kr"/>
                  <a:sym typeface="Noto Sans Kr"/>
                </a:rPr>
                <a:t> </a:t>
              </a:r>
              <a:r>
                <a:rPr lang="en-US" sz="2300" dirty="0" err="1">
                  <a:solidFill>
                    <a:srgbClr val="0A3D62"/>
                  </a:solidFill>
                  <a:latin typeface="Noto Sans Kr"/>
                  <a:ea typeface="Noto Sans Kr"/>
                  <a:cs typeface="Noto Sans Kr"/>
                  <a:sym typeface="Noto Sans Kr"/>
                </a:rPr>
                <a:t>가능한</a:t>
              </a:r>
              <a:r>
                <a:rPr lang="en-US" sz="2300" dirty="0">
                  <a:solidFill>
                    <a:srgbClr val="0A3D62"/>
                  </a:solidFill>
                  <a:latin typeface="Noto Sans Kr"/>
                  <a:ea typeface="Noto Sans Kr"/>
                  <a:cs typeface="Noto Sans Kr"/>
                  <a:sym typeface="Noto Sans Kr"/>
                </a:rPr>
                <a:t> </a:t>
              </a:r>
              <a:r>
                <a:rPr lang="en-US" sz="2300" dirty="0" err="1">
                  <a:solidFill>
                    <a:srgbClr val="0A3D62"/>
                  </a:solidFill>
                  <a:latin typeface="Noto Sans Kr"/>
                  <a:ea typeface="Noto Sans Kr"/>
                  <a:cs typeface="Noto Sans Kr"/>
                  <a:sym typeface="Noto Sans Kr"/>
                </a:rPr>
                <a:t>근거에</a:t>
              </a:r>
              <a:r>
                <a:rPr lang="en-US" sz="2300" dirty="0">
                  <a:solidFill>
                    <a:srgbClr val="0A3D62"/>
                  </a:solidFill>
                  <a:latin typeface="Noto Sans Kr"/>
                  <a:ea typeface="Noto Sans Kr"/>
                  <a:cs typeface="Noto Sans Kr"/>
                  <a:sym typeface="Noto Sans Kr"/>
                </a:rPr>
                <a:t> </a:t>
              </a:r>
              <a:r>
                <a:rPr lang="en-US" sz="2300" dirty="0" err="1">
                  <a:solidFill>
                    <a:srgbClr val="0A3D62"/>
                  </a:solidFill>
                  <a:latin typeface="Noto Sans Kr"/>
                  <a:ea typeface="Noto Sans Kr"/>
                  <a:cs typeface="Noto Sans Kr"/>
                  <a:sym typeface="Noto Sans Kr"/>
                </a:rPr>
                <a:t>기반한</a:t>
              </a:r>
              <a:r>
                <a:rPr lang="en-US" sz="2300" dirty="0">
                  <a:solidFill>
                    <a:srgbClr val="0A3D62"/>
                  </a:solidFill>
                  <a:latin typeface="Noto Sans Kr"/>
                  <a:ea typeface="Noto Sans Kr"/>
                  <a:cs typeface="Noto Sans Kr"/>
                  <a:sym typeface="Noto Sans Kr"/>
                </a:rPr>
                <a:t> </a:t>
              </a:r>
              <a:r>
                <a:rPr lang="en-US" sz="2300" dirty="0" err="1">
                  <a:solidFill>
                    <a:srgbClr val="0A3D62"/>
                  </a:solidFill>
                  <a:latin typeface="Noto Sans Kr"/>
                  <a:ea typeface="Noto Sans Kr"/>
                  <a:cs typeface="Noto Sans Kr"/>
                  <a:sym typeface="Noto Sans Kr"/>
                </a:rPr>
                <a:t>것인지</a:t>
              </a:r>
              <a:r>
                <a:rPr lang="en-US" sz="2300" dirty="0">
                  <a:solidFill>
                    <a:srgbClr val="0A3D62"/>
                  </a:solidFill>
                  <a:latin typeface="Noto Sans Kr"/>
                  <a:ea typeface="Noto Sans Kr"/>
                  <a:cs typeface="Noto Sans Kr"/>
                  <a:sym typeface="Noto Sans Kr"/>
                </a:rPr>
                <a:t> </a:t>
              </a:r>
              <a:r>
                <a:rPr lang="en-US" sz="2300" dirty="0" err="1">
                  <a:solidFill>
                    <a:srgbClr val="0A3D62"/>
                  </a:solidFill>
                  <a:latin typeface="Noto Sans Kr"/>
                  <a:ea typeface="Noto Sans Kr"/>
                  <a:cs typeface="Noto Sans Kr"/>
                  <a:sym typeface="Noto Sans Kr"/>
                </a:rPr>
                <a:t>판단하기</a:t>
              </a:r>
              <a:r>
                <a:rPr lang="en-US" sz="2300" dirty="0">
                  <a:solidFill>
                    <a:srgbClr val="0A3D62"/>
                  </a:solidFill>
                  <a:latin typeface="Noto Sans Kr"/>
                  <a:ea typeface="Noto Sans Kr"/>
                  <a:cs typeface="Noto Sans Kr"/>
                  <a:sym typeface="Noto Sans Kr"/>
                </a:rPr>
                <a:t> </a:t>
              </a:r>
              <a:r>
                <a:rPr lang="en-US" sz="2300" dirty="0" err="1">
                  <a:solidFill>
                    <a:srgbClr val="0A3D62"/>
                  </a:solidFill>
                  <a:latin typeface="Noto Sans Kr"/>
                  <a:ea typeface="Noto Sans Kr"/>
                  <a:cs typeface="Noto Sans Kr"/>
                  <a:sym typeface="Noto Sans Kr"/>
                </a:rPr>
                <a:t>어렵고</a:t>
              </a:r>
              <a:r>
                <a:rPr lang="en-US" sz="2300" dirty="0">
                  <a:solidFill>
                    <a:srgbClr val="0A3D62"/>
                  </a:solidFill>
                  <a:latin typeface="Noto Sans Kr"/>
                  <a:ea typeface="Noto Sans Kr"/>
                  <a:cs typeface="Noto Sans Kr"/>
                  <a:sym typeface="Noto Sans Kr"/>
                </a:rPr>
                <a:t>, </a:t>
              </a:r>
              <a:r>
                <a:rPr lang="en-US" sz="2300" dirty="0" err="1">
                  <a:solidFill>
                    <a:srgbClr val="0A3D62"/>
                  </a:solidFill>
                  <a:latin typeface="Noto Sans Kr"/>
                  <a:ea typeface="Noto Sans Kr"/>
                  <a:cs typeface="Noto Sans Kr"/>
                  <a:sym typeface="Noto Sans Kr"/>
                </a:rPr>
                <a:t>기존</a:t>
              </a:r>
              <a:r>
                <a:rPr lang="en-US" sz="2300" dirty="0">
                  <a:solidFill>
                    <a:srgbClr val="0A3D62"/>
                  </a:solidFill>
                  <a:latin typeface="Noto Sans Kr"/>
                  <a:ea typeface="Noto Sans Kr"/>
                  <a:cs typeface="Noto Sans Kr"/>
                  <a:sym typeface="Noto Sans Kr"/>
                </a:rPr>
                <a:t> </a:t>
              </a:r>
              <a:r>
                <a:rPr lang="en-US" sz="2300" dirty="0" err="1">
                  <a:solidFill>
                    <a:srgbClr val="0A3D62"/>
                  </a:solidFill>
                  <a:latin typeface="Noto Sans Kr"/>
                  <a:ea typeface="Noto Sans Kr"/>
                  <a:cs typeface="Noto Sans Kr"/>
                  <a:sym typeface="Noto Sans Kr"/>
                </a:rPr>
                <a:t>성능</a:t>
              </a:r>
              <a:r>
                <a:rPr lang="en-US" sz="2300" dirty="0">
                  <a:solidFill>
                    <a:srgbClr val="0A3D62"/>
                  </a:solidFill>
                  <a:latin typeface="Noto Sans Kr"/>
                  <a:ea typeface="Noto Sans Kr"/>
                  <a:cs typeface="Noto Sans Kr"/>
                  <a:sym typeface="Noto Sans Kr"/>
                </a:rPr>
                <a:t> </a:t>
              </a:r>
              <a:r>
                <a:rPr lang="en-US" sz="2300" dirty="0" err="1">
                  <a:solidFill>
                    <a:srgbClr val="0A3D62"/>
                  </a:solidFill>
                  <a:latin typeface="Noto Sans Kr"/>
                  <a:ea typeface="Noto Sans Kr"/>
                  <a:cs typeface="Noto Sans Kr"/>
                  <a:sym typeface="Noto Sans Kr"/>
                </a:rPr>
                <a:t>지표나</a:t>
              </a:r>
              <a:r>
                <a:rPr lang="en-US" sz="2300" dirty="0">
                  <a:solidFill>
                    <a:srgbClr val="0A3D62"/>
                  </a:solidFill>
                  <a:latin typeface="Noto Sans Kr"/>
                  <a:ea typeface="Noto Sans Kr"/>
                  <a:cs typeface="Noto Sans Kr"/>
                  <a:sym typeface="Noto Sans Kr"/>
                </a:rPr>
                <a:t> </a:t>
              </a:r>
              <a:r>
                <a:rPr lang="en-US" sz="2300" dirty="0" err="1">
                  <a:solidFill>
                    <a:srgbClr val="0A3D62"/>
                  </a:solidFill>
                  <a:latin typeface="Noto Sans Kr"/>
                  <a:ea typeface="Noto Sans Kr"/>
                  <a:cs typeface="Noto Sans Kr"/>
                  <a:sym typeface="Noto Sans Kr"/>
                </a:rPr>
                <a:t>단일</a:t>
              </a:r>
              <a:r>
                <a:rPr lang="en-US" sz="2300" dirty="0">
                  <a:solidFill>
                    <a:srgbClr val="0A3D62"/>
                  </a:solidFill>
                  <a:latin typeface="Noto Sans Kr"/>
                  <a:ea typeface="Noto Sans Kr"/>
                  <a:cs typeface="Noto Sans Kr"/>
                  <a:sym typeface="Noto Sans Kr"/>
                </a:rPr>
                <a:t> XAI </a:t>
              </a:r>
              <a:r>
                <a:rPr lang="en-US" sz="2300" dirty="0" err="1">
                  <a:solidFill>
                    <a:srgbClr val="0A3D62"/>
                  </a:solidFill>
                  <a:latin typeface="Noto Sans Kr"/>
                  <a:ea typeface="Noto Sans Kr"/>
                  <a:cs typeface="Noto Sans Kr"/>
                  <a:sym typeface="Noto Sans Kr"/>
                </a:rPr>
                <a:t>설명만으로는</a:t>
              </a:r>
              <a:r>
                <a:rPr lang="en-US" sz="2300" dirty="0">
                  <a:solidFill>
                    <a:srgbClr val="0A3D62"/>
                  </a:solidFill>
                  <a:latin typeface="Noto Sans Kr"/>
                  <a:ea typeface="Noto Sans Kr"/>
                  <a:cs typeface="Noto Sans Kr"/>
                  <a:sym typeface="Noto Sans Kr"/>
                </a:rPr>
                <a:t> </a:t>
              </a:r>
              <a:r>
                <a:rPr lang="en-US" sz="2300" dirty="0" err="1">
                  <a:solidFill>
                    <a:srgbClr val="0A3D62"/>
                  </a:solidFill>
                  <a:latin typeface="Noto Sans Kr"/>
                  <a:ea typeface="Noto Sans Kr"/>
                  <a:cs typeface="Noto Sans Kr"/>
                  <a:sym typeface="Noto Sans Kr"/>
                </a:rPr>
                <a:t>이러한</a:t>
              </a:r>
              <a:r>
                <a:rPr lang="en-US" sz="2300" dirty="0">
                  <a:solidFill>
                    <a:srgbClr val="0A3D62"/>
                  </a:solidFill>
                  <a:latin typeface="Noto Sans Kr"/>
                  <a:ea typeface="Noto Sans Kr"/>
                  <a:cs typeface="Noto Sans Kr"/>
                  <a:sym typeface="Noto Sans Kr"/>
                </a:rPr>
                <a:t> </a:t>
              </a:r>
              <a:r>
                <a:rPr lang="en-US" sz="2300" dirty="0" err="1">
                  <a:solidFill>
                    <a:srgbClr val="0A3D62"/>
                  </a:solidFill>
                  <a:latin typeface="Noto Sans Kr"/>
                  <a:ea typeface="Noto Sans Kr"/>
                  <a:cs typeface="Noto Sans Kr"/>
                  <a:sym typeface="Noto Sans Kr"/>
                </a:rPr>
                <a:t>시점별</a:t>
              </a:r>
              <a:r>
                <a:rPr lang="en-US" sz="2300" dirty="0">
                  <a:solidFill>
                    <a:srgbClr val="0A3D62"/>
                  </a:solidFill>
                  <a:latin typeface="Noto Sans Kr"/>
                  <a:ea typeface="Noto Sans Kr"/>
                  <a:cs typeface="Noto Sans Kr"/>
                  <a:sym typeface="Noto Sans Kr"/>
                </a:rPr>
                <a:t> </a:t>
              </a:r>
              <a:r>
                <a:rPr lang="en-US" sz="2300" dirty="0" err="1">
                  <a:solidFill>
                    <a:srgbClr val="0A3D62"/>
                  </a:solidFill>
                  <a:latin typeface="Noto Sans Kr"/>
                  <a:ea typeface="Noto Sans Kr"/>
                  <a:cs typeface="Noto Sans Kr"/>
                  <a:sym typeface="Noto Sans Kr"/>
                </a:rPr>
                <a:t>신뢰도를</a:t>
              </a:r>
              <a:r>
                <a:rPr lang="en-US" sz="2300" dirty="0">
                  <a:solidFill>
                    <a:srgbClr val="0A3D62"/>
                  </a:solidFill>
                  <a:latin typeface="Noto Sans Kr"/>
                  <a:ea typeface="Noto Sans Kr"/>
                  <a:cs typeface="Noto Sans Kr"/>
                  <a:sym typeface="Noto Sans Kr"/>
                </a:rPr>
                <a:t> </a:t>
              </a:r>
              <a:r>
                <a:rPr lang="en-US" sz="2300" dirty="0" err="1">
                  <a:solidFill>
                    <a:srgbClr val="0A3D62"/>
                  </a:solidFill>
                  <a:latin typeface="Noto Sans Kr"/>
                  <a:ea typeface="Noto Sans Kr"/>
                  <a:cs typeface="Noto Sans Kr"/>
                  <a:sym typeface="Noto Sans Kr"/>
                </a:rPr>
                <a:t>구분할</a:t>
              </a:r>
              <a:r>
                <a:rPr lang="en-US" sz="2300" dirty="0">
                  <a:solidFill>
                    <a:srgbClr val="0A3D62"/>
                  </a:solidFill>
                  <a:latin typeface="Noto Sans Kr"/>
                  <a:ea typeface="Noto Sans Kr"/>
                  <a:cs typeface="Noto Sans Kr"/>
                  <a:sym typeface="Noto Sans Kr"/>
                </a:rPr>
                <a:t> </a:t>
              </a:r>
              <a:r>
                <a:rPr lang="en-US" sz="2300" dirty="0" err="1">
                  <a:solidFill>
                    <a:srgbClr val="0A3D62"/>
                  </a:solidFill>
                  <a:latin typeface="Noto Sans Kr"/>
                  <a:ea typeface="Noto Sans Kr"/>
                  <a:cs typeface="Noto Sans Kr"/>
                  <a:sym typeface="Noto Sans Kr"/>
                </a:rPr>
                <a:t>수</a:t>
              </a:r>
              <a:r>
                <a:rPr lang="en-US" sz="2300" dirty="0">
                  <a:solidFill>
                    <a:srgbClr val="0A3D62"/>
                  </a:solidFill>
                  <a:latin typeface="Noto Sans Kr"/>
                  <a:ea typeface="Noto Sans Kr"/>
                  <a:cs typeface="Noto Sans Kr"/>
                  <a:sym typeface="Noto Sans Kr"/>
                </a:rPr>
                <a:t> </a:t>
              </a:r>
              <a:r>
                <a:rPr lang="en-US" sz="2300" dirty="0" err="1">
                  <a:solidFill>
                    <a:srgbClr val="0A3D62"/>
                  </a:solidFill>
                  <a:latin typeface="Noto Sans Kr"/>
                  <a:ea typeface="Noto Sans Kr"/>
                  <a:cs typeface="Noto Sans Kr"/>
                  <a:sym typeface="Noto Sans Kr"/>
                </a:rPr>
                <a:t>없어</a:t>
              </a:r>
              <a:r>
                <a:rPr lang="en-US" sz="2300" dirty="0">
                  <a:solidFill>
                    <a:srgbClr val="0A3D62"/>
                  </a:solidFill>
                  <a:latin typeface="Noto Sans Kr"/>
                  <a:ea typeface="Noto Sans Kr"/>
                  <a:cs typeface="Noto Sans Kr"/>
                  <a:sym typeface="Noto Sans Kr"/>
                </a:rPr>
                <a:t> </a:t>
              </a:r>
              <a:r>
                <a:rPr lang="en-US" sz="2300" dirty="0" err="1">
                  <a:solidFill>
                    <a:srgbClr val="0A3D62"/>
                  </a:solidFill>
                  <a:latin typeface="Noto Sans Kr"/>
                  <a:ea typeface="Noto Sans Kr"/>
                  <a:cs typeface="Noto Sans Kr"/>
                  <a:sym typeface="Noto Sans Kr"/>
                </a:rPr>
                <a:t>실제</a:t>
              </a:r>
              <a:r>
                <a:rPr lang="en-US" sz="2300" dirty="0">
                  <a:solidFill>
                    <a:srgbClr val="0A3D62"/>
                  </a:solidFill>
                  <a:latin typeface="Noto Sans Kr"/>
                  <a:ea typeface="Noto Sans Kr"/>
                  <a:cs typeface="Noto Sans Kr"/>
                  <a:sym typeface="Noto Sans Kr"/>
                </a:rPr>
                <a:t> </a:t>
              </a:r>
              <a:r>
                <a:rPr lang="en-US" sz="2300" dirty="0" err="1">
                  <a:solidFill>
                    <a:srgbClr val="0A3D62"/>
                  </a:solidFill>
                  <a:latin typeface="Noto Sans Kr"/>
                  <a:ea typeface="Noto Sans Kr"/>
                  <a:cs typeface="Noto Sans Kr"/>
                  <a:sym typeface="Noto Sans Kr"/>
                </a:rPr>
                <a:t>운용</a:t>
              </a:r>
              <a:r>
                <a:rPr lang="en-US" sz="2300" dirty="0">
                  <a:solidFill>
                    <a:srgbClr val="0A3D62"/>
                  </a:solidFill>
                  <a:latin typeface="Noto Sans Kr"/>
                  <a:ea typeface="Noto Sans Kr"/>
                  <a:cs typeface="Noto Sans Kr"/>
                  <a:sym typeface="Noto Sans Kr"/>
                </a:rPr>
                <a:t> </a:t>
              </a:r>
              <a:r>
                <a:rPr lang="en-US" sz="2300" dirty="0" err="1">
                  <a:solidFill>
                    <a:srgbClr val="0A3D62"/>
                  </a:solidFill>
                  <a:latin typeface="Noto Sans Kr"/>
                  <a:ea typeface="Noto Sans Kr"/>
                  <a:cs typeface="Noto Sans Kr"/>
                  <a:sym typeface="Noto Sans Kr"/>
                </a:rPr>
                <a:t>시</a:t>
              </a:r>
              <a:r>
                <a:rPr lang="en-US" sz="2300" dirty="0">
                  <a:solidFill>
                    <a:srgbClr val="0A3D62"/>
                  </a:solidFill>
                  <a:latin typeface="Noto Sans Kr"/>
                  <a:ea typeface="Noto Sans Kr"/>
                  <a:cs typeface="Noto Sans Kr"/>
                  <a:sym typeface="Noto Sans Kr"/>
                </a:rPr>
                <a:t> </a:t>
              </a:r>
              <a:r>
                <a:rPr lang="en-US" sz="2300" dirty="0" err="1">
                  <a:solidFill>
                    <a:srgbClr val="0A3D62"/>
                  </a:solidFill>
                  <a:latin typeface="Noto Sans Kr"/>
                  <a:ea typeface="Noto Sans Kr"/>
                  <a:cs typeface="Noto Sans Kr"/>
                  <a:sym typeface="Noto Sans Kr"/>
                </a:rPr>
                <a:t>불필요한</a:t>
              </a:r>
              <a:r>
                <a:rPr lang="en-US" sz="2300" dirty="0">
                  <a:solidFill>
                    <a:srgbClr val="0A3D62"/>
                  </a:solidFill>
                  <a:latin typeface="Noto Sans Kr"/>
                  <a:ea typeface="Noto Sans Kr"/>
                  <a:cs typeface="Noto Sans Kr"/>
                  <a:sym typeface="Noto Sans Kr"/>
                </a:rPr>
                <a:t> </a:t>
              </a:r>
              <a:r>
                <a:rPr lang="en-US" sz="2300" dirty="0" err="1">
                  <a:solidFill>
                    <a:srgbClr val="0A3D62"/>
                  </a:solidFill>
                  <a:latin typeface="Noto Sans Kr"/>
                  <a:ea typeface="Noto Sans Kr"/>
                  <a:cs typeface="Noto Sans Kr"/>
                  <a:sym typeface="Noto Sans Kr"/>
                </a:rPr>
                <a:t>리스크를</a:t>
              </a:r>
              <a:r>
                <a:rPr lang="en-US" sz="2300" dirty="0">
                  <a:solidFill>
                    <a:srgbClr val="0A3D62"/>
                  </a:solidFill>
                  <a:latin typeface="Noto Sans Kr"/>
                  <a:ea typeface="Noto Sans Kr"/>
                  <a:cs typeface="Noto Sans Kr"/>
                  <a:sym typeface="Noto Sans Kr"/>
                </a:rPr>
                <a:t> </a:t>
              </a:r>
              <a:r>
                <a:rPr lang="en-US" sz="2300" dirty="0" err="1">
                  <a:solidFill>
                    <a:srgbClr val="0A3D62"/>
                  </a:solidFill>
                  <a:latin typeface="Noto Sans Kr"/>
                  <a:ea typeface="Noto Sans Kr"/>
                  <a:cs typeface="Noto Sans Kr"/>
                  <a:sym typeface="Noto Sans Kr"/>
                </a:rPr>
                <a:t>초래할</a:t>
              </a:r>
              <a:r>
                <a:rPr lang="en-US" sz="2300" dirty="0">
                  <a:solidFill>
                    <a:srgbClr val="0A3D62"/>
                  </a:solidFill>
                  <a:latin typeface="Noto Sans Kr"/>
                  <a:ea typeface="Noto Sans Kr"/>
                  <a:cs typeface="Noto Sans Kr"/>
                  <a:sym typeface="Noto Sans Kr"/>
                </a:rPr>
                <a:t> </a:t>
              </a:r>
              <a:r>
                <a:rPr lang="en-US" sz="2300" dirty="0" err="1">
                  <a:solidFill>
                    <a:srgbClr val="0A3D62"/>
                  </a:solidFill>
                  <a:latin typeface="Noto Sans Kr"/>
                  <a:ea typeface="Noto Sans Kr"/>
                  <a:cs typeface="Noto Sans Kr"/>
                  <a:sym typeface="Noto Sans Kr"/>
                </a:rPr>
                <a:t>수</a:t>
              </a:r>
              <a:r>
                <a:rPr lang="en-US" sz="2300" dirty="0">
                  <a:solidFill>
                    <a:srgbClr val="0A3D62"/>
                  </a:solidFill>
                  <a:latin typeface="Noto Sans Kr"/>
                  <a:ea typeface="Noto Sans Kr"/>
                  <a:cs typeface="Noto Sans Kr"/>
                  <a:sym typeface="Noto Sans Kr"/>
                </a:rPr>
                <a:t> </a:t>
              </a:r>
              <a:r>
                <a:rPr lang="en-US" sz="2300" dirty="0" err="1">
                  <a:solidFill>
                    <a:srgbClr val="0A3D62"/>
                  </a:solidFill>
                  <a:latin typeface="Noto Sans Kr"/>
                  <a:ea typeface="Noto Sans Kr"/>
                  <a:cs typeface="Noto Sans Kr"/>
                  <a:sym typeface="Noto Sans Kr"/>
                </a:rPr>
                <a:t>있음</a:t>
              </a:r>
              <a:endParaRPr lang="en-US" sz="2300" dirty="0">
                <a:solidFill>
                  <a:srgbClr val="0A3D62"/>
                </a:solidFill>
                <a:latin typeface="Noto Sans Kr"/>
                <a:ea typeface="Noto Sans Kr"/>
                <a:cs typeface="Noto Sans Kr"/>
                <a:sym typeface="Noto Sans Kr"/>
              </a:endParaRPr>
            </a:p>
            <a:p>
              <a:pPr marL="0" lvl="0" indent="0" algn="l">
                <a:lnSpc>
                  <a:spcPts val="3220"/>
                </a:lnSpc>
              </a:pPr>
              <a:endParaRPr lang="en-US" sz="2300" dirty="0">
                <a:solidFill>
                  <a:srgbClr val="0A3D62"/>
                </a:solidFill>
                <a:latin typeface="Noto Sans Kr"/>
                <a:ea typeface="Noto Sans Kr"/>
                <a:cs typeface="Noto Sans Kr"/>
                <a:sym typeface="Noto Sans Kr"/>
              </a:endParaRPr>
            </a:p>
          </p:txBody>
        </p:sp>
      </p:grpSp>
      <p:sp>
        <p:nvSpPr>
          <p:cNvPr id="6" name="TextBox 6"/>
          <p:cNvSpPr txBox="1"/>
          <p:nvPr/>
        </p:nvSpPr>
        <p:spPr>
          <a:xfrm>
            <a:off x="8897503" y="9707753"/>
            <a:ext cx="492993" cy="447675"/>
          </a:xfrm>
          <a:prstGeom prst="rect">
            <a:avLst/>
          </a:prstGeom>
        </p:spPr>
        <p:txBody>
          <a:bodyPr lIns="0" tIns="0" rIns="0" bIns="0" rtlCol="0" anchor="t">
            <a:spAutoFit/>
          </a:bodyPr>
          <a:lstStyle/>
          <a:p>
            <a:pPr algn="ctr">
              <a:lnSpc>
                <a:spcPts val="3300"/>
              </a:lnSpc>
              <a:spcBef>
                <a:spcPct val="0"/>
              </a:spcBef>
            </a:pPr>
            <a:r>
              <a:rPr lang="en-US" sz="3000">
                <a:solidFill>
                  <a:srgbClr val="000000"/>
                </a:solidFill>
                <a:latin typeface="Georgia Pro Light"/>
                <a:ea typeface="Georgia Pro Light"/>
                <a:cs typeface="Georgia Pro Light"/>
                <a:sym typeface="Georgia Pro Light"/>
              </a:rPr>
              <a:t>-2-</a:t>
            </a:r>
          </a:p>
        </p:txBody>
      </p:sp>
      <p:sp>
        <p:nvSpPr>
          <p:cNvPr id="7" name="TextBox 7"/>
          <p:cNvSpPr txBox="1"/>
          <p:nvPr/>
        </p:nvSpPr>
        <p:spPr>
          <a:xfrm>
            <a:off x="666750" y="3805599"/>
            <a:ext cx="6177483" cy="1139828"/>
          </a:xfrm>
          <a:prstGeom prst="rect">
            <a:avLst/>
          </a:prstGeom>
        </p:spPr>
        <p:txBody>
          <a:bodyPr lIns="0" tIns="0" rIns="0" bIns="0" rtlCol="0" anchor="t">
            <a:spAutoFit/>
          </a:bodyPr>
          <a:lstStyle/>
          <a:p>
            <a:pPr algn="ctr">
              <a:lnSpc>
                <a:spcPts val="8800"/>
              </a:lnSpc>
              <a:spcBef>
                <a:spcPct val="0"/>
              </a:spcBef>
            </a:pPr>
            <a:r>
              <a:rPr lang="en-US" sz="8000" b="1">
                <a:solidFill>
                  <a:srgbClr val="0A3D62"/>
                </a:solidFill>
                <a:latin typeface="Noto Sans Kr Bold"/>
                <a:ea typeface="Noto Sans Kr Bold"/>
                <a:cs typeface="Noto Sans Kr Bold"/>
                <a:sym typeface="Noto Sans Kr Bold"/>
              </a:rPr>
              <a:t>연구 흐름 요약</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
        <p:nvSpPr>
          <p:cNvPr id="2" name="Freeform 2"/>
          <p:cNvSpPr/>
          <p:nvPr/>
        </p:nvSpPr>
        <p:spPr>
          <a:xfrm>
            <a:off x="2838778" y="2141671"/>
            <a:ext cx="12117449" cy="8102356"/>
          </a:xfrm>
          <a:custGeom>
            <a:avLst/>
            <a:gdLst/>
            <a:ahLst/>
            <a:cxnLst/>
            <a:rect l="l" t="t" r="r" b="b"/>
            <a:pathLst>
              <a:path w="12117449" h="9825673">
                <a:moveTo>
                  <a:pt x="0" y="0"/>
                </a:moveTo>
                <a:lnTo>
                  <a:pt x="12117449" y="0"/>
                </a:lnTo>
                <a:lnTo>
                  <a:pt x="12117449" y="9825673"/>
                </a:lnTo>
                <a:lnTo>
                  <a:pt x="0" y="9825673"/>
                </a:lnTo>
                <a:lnTo>
                  <a:pt x="0" y="0"/>
                </a:lnTo>
                <a:close/>
              </a:path>
            </a:pathLst>
          </a:custGeom>
          <a:blipFill>
            <a:blip r:embed="rId2"/>
            <a:stretch>
              <a:fillRect t="-27374" r="-3283"/>
            </a:stretch>
          </a:blipFill>
        </p:spPr>
        <p:txBody>
          <a:bodyPr/>
          <a:lstStyle/>
          <a:p>
            <a:endParaRPr lang="ko-KR" altLang="en-US"/>
          </a:p>
        </p:txBody>
      </p:sp>
      <p:grpSp>
        <p:nvGrpSpPr>
          <p:cNvPr id="3" name="Group 3"/>
          <p:cNvGrpSpPr/>
          <p:nvPr/>
        </p:nvGrpSpPr>
        <p:grpSpPr>
          <a:xfrm>
            <a:off x="666750" y="231156"/>
            <a:ext cx="16224947" cy="2313251"/>
            <a:chOff x="0" y="0"/>
            <a:chExt cx="21633262" cy="3084334"/>
          </a:xfrm>
        </p:grpSpPr>
        <p:sp>
          <p:nvSpPr>
            <p:cNvPr id="4" name="TextBox 4"/>
            <p:cNvSpPr txBox="1"/>
            <p:nvPr/>
          </p:nvSpPr>
          <p:spPr>
            <a:xfrm>
              <a:off x="0" y="76200"/>
              <a:ext cx="12713295" cy="1545171"/>
            </a:xfrm>
            <a:prstGeom prst="rect">
              <a:avLst/>
            </a:prstGeom>
          </p:spPr>
          <p:txBody>
            <a:bodyPr lIns="0" tIns="0" rIns="0" bIns="0" rtlCol="0" anchor="t">
              <a:spAutoFit/>
            </a:bodyPr>
            <a:lstStyle/>
            <a:p>
              <a:pPr marL="0" lvl="0" indent="0" algn="l">
                <a:lnSpc>
                  <a:spcPts val="8800"/>
                </a:lnSpc>
              </a:pPr>
              <a:r>
                <a:rPr lang="en-US" sz="8000" b="1">
                  <a:solidFill>
                    <a:srgbClr val="0A3D62"/>
                  </a:solidFill>
                  <a:latin typeface="Noto Sans Kr Bold"/>
                  <a:ea typeface="Noto Sans Kr Bold"/>
                  <a:cs typeface="Noto Sans Kr Bold"/>
                  <a:sym typeface="Noto Sans Kr Bold"/>
                </a:rPr>
                <a:t>Overview (Figure)</a:t>
              </a:r>
            </a:p>
          </p:txBody>
        </p:sp>
        <p:sp>
          <p:nvSpPr>
            <p:cNvPr id="5" name="TextBox 5"/>
            <p:cNvSpPr txBox="1"/>
            <p:nvPr/>
          </p:nvSpPr>
          <p:spPr>
            <a:xfrm>
              <a:off x="0" y="2047803"/>
              <a:ext cx="21633262" cy="1036532"/>
            </a:xfrm>
            <a:prstGeom prst="rect">
              <a:avLst/>
            </a:prstGeom>
          </p:spPr>
          <p:txBody>
            <a:bodyPr lIns="0" tIns="0" rIns="0" bIns="0" rtlCol="0" anchor="t">
              <a:spAutoFit/>
            </a:bodyPr>
            <a:lstStyle/>
            <a:p>
              <a:pPr algn="l">
                <a:lnSpc>
                  <a:spcPts val="3220"/>
                </a:lnSpc>
              </a:pPr>
              <a:r>
                <a:rPr lang="en-US" sz="2300">
                  <a:solidFill>
                    <a:srgbClr val="0A3D62"/>
                  </a:solidFill>
                  <a:latin typeface="Noto Sans Kr"/>
                  <a:ea typeface="Noto Sans Kr"/>
                  <a:cs typeface="Noto Sans Kr"/>
                  <a:sym typeface="Noto Sans Kr"/>
                </a:rPr>
                <a:t>복수 XAI 설명 합의를 기반으로 거래 진입 여부를 결정하는 C-Index 기반 주식 매매 프레임워크 </a:t>
              </a:r>
            </a:p>
            <a:p>
              <a:pPr marL="0" lvl="0" indent="0" algn="l">
                <a:lnSpc>
                  <a:spcPts val="3220"/>
                </a:lnSpc>
              </a:pPr>
              <a:endParaRPr lang="en-US" sz="2300">
                <a:solidFill>
                  <a:srgbClr val="0A3D62"/>
                </a:solidFill>
                <a:latin typeface="Noto Sans Kr"/>
                <a:ea typeface="Noto Sans Kr"/>
                <a:cs typeface="Noto Sans Kr"/>
                <a:sym typeface="Noto Sans Kr"/>
              </a:endParaRPr>
            </a:p>
          </p:txBody>
        </p:sp>
      </p:grpSp>
      <p:sp>
        <p:nvSpPr>
          <p:cNvPr id="6" name="TextBox 6"/>
          <p:cNvSpPr txBox="1"/>
          <p:nvPr/>
        </p:nvSpPr>
        <p:spPr>
          <a:xfrm>
            <a:off x="8897503" y="9707753"/>
            <a:ext cx="492993" cy="447675"/>
          </a:xfrm>
          <a:prstGeom prst="rect">
            <a:avLst/>
          </a:prstGeom>
        </p:spPr>
        <p:txBody>
          <a:bodyPr lIns="0" tIns="0" rIns="0" bIns="0" rtlCol="0" anchor="t">
            <a:spAutoFit/>
          </a:bodyPr>
          <a:lstStyle/>
          <a:p>
            <a:pPr algn="ctr">
              <a:lnSpc>
                <a:spcPts val="3300"/>
              </a:lnSpc>
              <a:spcBef>
                <a:spcPct val="0"/>
              </a:spcBef>
            </a:pPr>
            <a:r>
              <a:rPr lang="en-US" sz="3000">
                <a:solidFill>
                  <a:srgbClr val="000000"/>
                </a:solidFill>
                <a:latin typeface="Georgia Pro Light"/>
                <a:ea typeface="Georgia Pro Light"/>
                <a:cs typeface="Georgia Pro Light"/>
                <a:sym typeface="Georgia Pro Light"/>
              </a:rPr>
              <a:t>-3-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grpSp>
        <p:nvGrpSpPr>
          <p:cNvPr id="2" name="Group 2"/>
          <p:cNvGrpSpPr/>
          <p:nvPr/>
        </p:nvGrpSpPr>
        <p:grpSpPr>
          <a:xfrm>
            <a:off x="666750" y="723900"/>
            <a:ext cx="14106374" cy="2950737"/>
            <a:chOff x="0" y="76200"/>
            <a:chExt cx="18808499" cy="3934316"/>
          </a:xfrm>
        </p:grpSpPr>
        <p:sp>
          <p:nvSpPr>
            <p:cNvPr id="3" name="TextBox 3"/>
            <p:cNvSpPr txBox="1"/>
            <p:nvPr/>
          </p:nvSpPr>
          <p:spPr>
            <a:xfrm>
              <a:off x="0" y="76200"/>
              <a:ext cx="11099800" cy="3031071"/>
            </a:xfrm>
            <a:prstGeom prst="rect">
              <a:avLst/>
            </a:prstGeom>
          </p:spPr>
          <p:txBody>
            <a:bodyPr lIns="0" tIns="0" rIns="0" bIns="0" rtlCol="0" anchor="t">
              <a:spAutoFit/>
            </a:bodyPr>
            <a:lstStyle/>
            <a:p>
              <a:pPr algn="l">
                <a:lnSpc>
                  <a:spcPts val="8800"/>
                </a:lnSpc>
              </a:pPr>
              <a:r>
                <a:rPr lang="en-US" sz="8000" b="1" dirty="0" err="1">
                  <a:solidFill>
                    <a:srgbClr val="0A3D62"/>
                  </a:solidFill>
                  <a:latin typeface="Noto Sans Kr Bold"/>
                  <a:ea typeface="Noto Sans Kr Bold"/>
                  <a:cs typeface="Noto Sans Kr Bold"/>
                  <a:sym typeface="Noto Sans Kr Bold"/>
                </a:rPr>
                <a:t>베이스라인</a:t>
              </a:r>
              <a:endParaRPr lang="en-US" sz="8000" b="1" dirty="0">
                <a:solidFill>
                  <a:srgbClr val="0A3D62"/>
                </a:solidFill>
                <a:latin typeface="Noto Sans Kr Bold"/>
                <a:ea typeface="Noto Sans Kr Bold"/>
                <a:cs typeface="Noto Sans Kr Bold"/>
                <a:sym typeface="Noto Sans Kr Bold"/>
              </a:endParaRPr>
            </a:p>
            <a:p>
              <a:pPr marL="0" lvl="0" indent="0" algn="l">
                <a:lnSpc>
                  <a:spcPts val="8800"/>
                </a:lnSpc>
              </a:pPr>
              <a:r>
                <a:rPr lang="en-US" sz="8000" b="1" dirty="0" err="1">
                  <a:solidFill>
                    <a:srgbClr val="0A3D62"/>
                  </a:solidFill>
                  <a:latin typeface="Noto Sans Kr Bold"/>
                  <a:ea typeface="Noto Sans Kr Bold"/>
                  <a:cs typeface="Noto Sans Kr Bold"/>
                  <a:sym typeface="Noto Sans Kr Bold"/>
                </a:rPr>
                <a:t>모델</a:t>
              </a:r>
              <a:r>
                <a:rPr lang="en-US" sz="8000" b="1" dirty="0">
                  <a:solidFill>
                    <a:srgbClr val="0A3D62"/>
                  </a:solidFill>
                  <a:latin typeface="Noto Sans Kr Bold"/>
                  <a:ea typeface="Noto Sans Kr Bold"/>
                  <a:cs typeface="Noto Sans Kr Bold"/>
                  <a:sym typeface="Noto Sans Kr Bold"/>
                </a:rPr>
                <a:t> </a:t>
              </a:r>
              <a:r>
                <a:rPr lang="en-US" sz="8000" b="1" dirty="0" err="1">
                  <a:solidFill>
                    <a:srgbClr val="0A3D62"/>
                  </a:solidFill>
                  <a:latin typeface="Noto Sans Kr Bold"/>
                  <a:ea typeface="Noto Sans Kr Bold"/>
                  <a:cs typeface="Noto Sans Kr Bold"/>
                  <a:sym typeface="Noto Sans Kr Bold"/>
                </a:rPr>
                <a:t>학습</a:t>
              </a:r>
              <a:endParaRPr lang="en-US" sz="8000" b="1" dirty="0">
                <a:solidFill>
                  <a:srgbClr val="0A3D62"/>
                </a:solidFill>
                <a:latin typeface="Noto Sans Kr Bold"/>
                <a:ea typeface="Noto Sans Kr Bold"/>
                <a:cs typeface="Noto Sans Kr Bold"/>
                <a:sym typeface="Noto Sans Kr Bold"/>
              </a:endParaRPr>
            </a:p>
          </p:txBody>
        </p:sp>
        <p:sp>
          <p:nvSpPr>
            <p:cNvPr id="4" name="TextBox 4"/>
            <p:cNvSpPr txBox="1"/>
            <p:nvPr/>
          </p:nvSpPr>
          <p:spPr>
            <a:xfrm>
              <a:off x="0" y="3514653"/>
              <a:ext cx="18808499" cy="495863"/>
            </a:xfrm>
            <a:prstGeom prst="rect">
              <a:avLst/>
            </a:prstGeom>
          </p:spPr>
          <p:txBody>
            <a:bodyPr lIns="0" tIns="0" rIns="0" bIns="0" rtlCol="0" anchor="t">
              <a:spAutoFit/>
            </a:bodyPr>
            <a:lstStyle/>
            <a:p>
              <a:pPr algn="l">
                <a:lnSpc>
                  <a:spcPts val="2940"/>
                </a:lnSpc>
              </a:pPr>
              <a:endParaRPr lang="en-US" sz="3000" dirty="0">
                <a:solidFill>
                  <a:srgbClr val="0A3D62"/>
                </a:solidFill>
                <a:latin typeface=""/>
                <a:ea typeface="DM Sans"/>
                <a:cs typeface="DM Sans"/>
                <a:sym typeface="DM Sans"/>
              </a:endParaRPr>
            </a:p>
          </p:txBody>
        </p:sp>
      </p:grpSp>
      <p:sp>
        <p:nvSpPr>
          <p:cNvPr id="5" name="TextBox 5"/>
          <p:cNvSpPr txBox="1"/>
          <p:nvPr/>
        </p:nvSpPr>
        <p:spPr>
          <a:xfrm>
            <a:off x="10776478" y="687578"/>
            <a:ext cx="7314411" cy="10156627"/>
          </a:xfrm>
          <a:prstGeom prst="rect">
            <a:avLst/>
          </a:prstGeom>
        </p:spPr>
        <p:txBody>
          <a:bodyPr lIns="0" tIns="0" rIns="0" bIns="0" rtlCol="0" anchor="t">
            <a:spAutoFit/>
          </a:bodyPr>
          <a:lstStyle/>
          <a:p>
            <a:pPr algn="just">
              <a:lnSpc>
                <a:spcPts val="3300"/>
              </a:lnSpc>
              <a:spcBef>
                <a:spcPct val="0"/>
              </a:spcBef>
            </a:pPr>
            <a:r>
              <a:rPr lang="en-US" sz="3000" b="1" dirty="0">
                <a:solidFill>
                  <a:srgbClr val="0A3D62"/>
                </a:solidFill>
                <a:latin typeface="Noto Sans Kr Bold"/>
                <a:ea typeface="Noto Sans Kr Bold"/>
                <a:cs typeface="Noto Sans Kr Bold"/>
                <a:sym typeface="Noto Sans Kr Bold"/>
              </a:rPr>
              <a:t>Input Features</a:t>
            </a:r>
          </a:p>
          <a:p>
            <a:pPr marL="647700" lvl="1" indent="-323850" algn="just">
              <a:lnSpc>
                <a:spcPts val="3300"/>
              </a:lnSpc>
              <a:spcBef>
                <a:spcPct val="0"/>
              </a:spcBef>
              <a:buFont typeface="Arial"/>
              <a:buChar char="•"/>
            </a:pPr>
            <a:r>
              <a:rPr lang="en-US" sz="3000" b="1" dirty="0" err="1">
                <a:solidFill>
                  <a:srgbClr val="0A3D62"/>
                </a:solidFill>
                <a:latin typeface="Noto Sans Kr Bold"/>
                <a:ea typeface="Noto Sans Kr Bold"/>
                <a:cs typeface="Noto Sans Kr Bold"/>
                <a:sym typeface="Noto Sans Kr Bold"/>
              </a:rPr>
              <a:t>수익률</a:t>
            </a:r>
            <a:r>
              <a:rPr lang="en-US" sz="3000" dirty="0">
                <a:solidFill>
                  <a:srgbClr val="0A3D62"/>
                </a:solidFill>
                <a:latin typeface="Noto Sans Kr"/>
                <a:ea typeface="Noto Sans Kr"/>
                <a:cs typeface="Noto Sans Kr"/>
                <a:sym typeface="Noto Sans Kr"/>
              </a:rPr>
              <a:t> </a:t>
            </a:r>
          </a:p>
          <a:p>
            <a:pPr marL="1295400" lvl="2" indent="-431800" algn="just">
              <a:lnSpc>
                <a:spcPts val="3300"/>
              </a:lnSpc>
              <a:spcBef>
                <a:spcPct val="0"/>
              </a:spcBef>
              <a:buFont typeface="Arial"/>
              <a:buChar char="⚬"/>
            </a:pPr>
            <a:r>
              <a:rPr lang="en-US" sz="3000" dirty="0">
                <a:solidFill>
                  <a:srgbClr val="0A3D62"/>
                </a:solidFill>
                <a:latin typeface="Noto Sans Kr"/>
                <a:ea typeface="Noto Sans Kr"/>
                <a:cs typeface="Noto Sans Kr"/>
                <a:sym typeface="Noto Sans Kr"/>
              </a:rPr>
              <a:t>1d log return</a:t>
            </a:r>
          </a:p>
          <a:p>
            <a:pPr marL="1295400" lvl="2" indent="-431800" algn="just">
              <a:lnSpc>
                <a:spcPts val="3300"/>
              </a:lnSpc>
              <a:spcBef>
                <a:spcPct val="0"/>
              </a:spcBef>
              <a:buFont typeface="Arial"/>
              <a:buChar char="⚬"/>
            </a:pPr>
            <a:r>
              <a:rPr lang="en-US" sz="3000" dirty="0">
                <a:solidFill>
                  <a:srgbClr val="0A3D62"/>
                </a:solidFill>
                <a:latin typeface="Noto Sans Kr"/>
                <a:ea typeface="Noto Sans Kr"/>
                <a:cs typeface="Noto Sans Kr"/>
                <a:sym typeface="Noto Sans Kr"/>
              </a:rPr>
              <a:t>5d log return</a:t>
            </a:r>
          </a:p>
          <a:p>
            <a:pPr marL="1295400" lvl="2" indent="-431800" algn="just">
              <a:lnSpc>
                <a:spcPts val="3300"/>
              </a:lnSpc>
              <a:spcBef>
                <a:spcPct val="0"/>
              </a:spcBef>
              <a:buFont typeface="Arial"/>
              <a:buChar char="⚬"/>
            </a:pPr>
            <a:r>
              <a:rPr lang="en-US" sz="3000" dirty="0">
                <a:solidFill>
                  <a:srgbClr val="0A3D62"/>
                </a:solidFill>
                <a:latin typeface="Noto Sans Kr"/>
                <a:ea typeface="Noto Sans Kr"/>
                <a:cs typeface="Noto Sans Kr"/>
                <a:sym typeface="Noto Sans Kr"/>
              </a:rPr>
              <a:t>10d log return</a:t>
            </a:r>
          </a:p>
          <a:p>
            <a:pPr marL="647700" lvl="1" indent="-323850" algn="just">
              <a:lnSpc>
                <a:spcPts val="3300"/>
              </a:lnSpc>
              <a:spcBef>
                <a:spcPct val="0"/>
              </a:spcBef>
              <a:buFont typeface="Arial"/>
              <a:buChar char="•"/>
            </a:pPr>
            <a:r>
              <a:rPr lang="en-US" sz="3000" b="1" dirty="0" err="1">
                <a:solidFill>
                  <a:srgbClr val="0A3D62"/>
                </a:solidFill>
                <a:latin typeface="Noto Sans Kr Bold"/>
                <a:ea typeface="Noto Sans Kr Bold"/>
                <a:cs typeface="Noto Sans Kr Bold"/>
                <a:sym typeface="Noto Sans Kr Bold"/>
              </a:rPr>
              <a:t>변동성</a:t>
            </a:r>
            <a:endParaRPr lang="en-US" sz="3000" b="1" dirty="0">
              <a:solidFill>
                <a:srgbClr val="0A3D62"/>
              </a:solidFill>
              <a:latin typeface="Noto Sans Kr Bold"/>
              <a:ea typeface="Noto Sans Kr Bold"/>
              <a:cs typeface="Noto Sans Kr Bold"/>
              <a:sym typeface="Noto Sans Kr Bold"/>
            </a:endParaRPr>
          </a:p>
          <a:p>
            <a:pPr marL="1295400" lvl="2" indent="-431800" algn="just">
              <a:lnSpc>
                <a:spcPts val="3300"/>
              </a:lnSpc>
              <a:spcBef>
                <a:spcPct val="0"/>
              </a:spcBef>
              <a:buFont typeface="Arial"/>
              <a:buChar char="⚬"/>
            </a:pPr>
            <a:r>
              <a:rPr lang="en-US" sz="3000" dirty="0">
                <a:solidFill>
                  <a:srgbClr val="0A3D62"/>
                </a:solidFill>
                <a:latin typeface="Noto Sans Kr"/>
                <a:ea typeface="Noto Sans Kr"/>
                <a:cs typeface="Noto Sans Kr"/>
                <a:sym typeface="Noto Sans Kr"/>
              </a:rPr>
              <a:t>20d rolling std</a:t>
            </a:r>
          </a:p>
          <a:p>
            <a:pPr marL="1295400" lvl="2" indent="-431800" algn="just">
              <a:lnSpc>
                <a:spcPts val="3300"/>
              </a:lnSpc>
              <a:spcBef>
                <a:spcPct val="0"/>
              </a:spcBef>
              <a:buFont typeface="Arial"/>
              <a:buChar char="⚬"/>
            </a:pPr>
            <a:r>
              <a:rPr lang="en-US" sz="3000" dirty="0">
                <a:solidFill>
                  <a:srgbClr val="0A3D62"/>
                </a:solidFill>
                <a:latin typeface="Noto Sans Kr"/>
                <a:ea typeface="Noto Sans Kr"/>
                <a:cs typeface="Noto Sans Kr"/>
                <a:sym typeface="Noto Sans Kr"/>
              </a:rPr>
              <a:t>60d rolling std</a:t>
            </a:r>
          </a:p>
          <a:p>
            <a:pPr marL="1295400" lvl="2" indent="-431800" algn="just">
              <a:lnSpc>
                <a:spcPts val="3300"/>
              </a:lnSpc>
              <a:spcBef>
                <a:spcPct val="0"/>
              </a:spcBef>
              <a:buFont typeface="Arial"/>
              <a:buChar char="⚬"/>
            </a:pPr>
            <a:r>
              <a:rPr lang="en-US" sz="3000" dirty="0">
                <a:solidFill>
                  <a:srgbClr val="0A3D62"/>
                </a:solidFill>
                <a:latin typeface="Noto Sans Kr"/>
                <a:ea typeface="Noto Sans Kr"/>
                <a:cs typeface="Noto Sans Kr"/>
                <a:sym typeface="Noto Sans Kr"/>
              </a:rPr>
              <a:t>ATR(14)</a:t>
            </a:r>
          </a:p>
          <a:p>
            <a:pPr marL="647700" lvl="1" indent="-323850" algn="just">
              <a:lnSpc>
                <a:spcPts val="3300"/>
              </a:lnSpc>
              <a:spcBef>
                <a:spcPct val="0"/>
              </a:spcBef>
              <a:buFont typeface="Arial"/>
              <a:buChar char="•"/>
            </a:pPr>
            <a:r>
              <a:rPr lang="en-US" sz="3000" b="1" dirty="0" err="1">
                <a:solidFill>
                  <a:srgbClr val="0A3D62"/>
                </a:solidFill>
                <a:latin typeface="Noto Sans Kr Bold"/>
                <a:ea typeface="Noto Sans Kr Bold"/>
                <a:cs typeface="Noto Sans Kr Bold"/>
                <a:sym typeface="Noto Sans Kr Bold"/>
              </a:rPr>
              <a:t>추세</a:t>
            </a:r>
            <a:r>
              <a:rPr lang="en-US" sz="3000" dirty="0">
                <a:solidFill>
                  <a:srgbClr val="0A3D62"/>
                </a:solidFill>
                <a:latin typeface="Noto Sans Kr"/>
                <a:ea typeface="Noto Sans Kr"/>
                <a:cs typeface="Noto Sans Kr"/>
                <a:sym typeface="Noto Sans Kr"/>
              </a:rPr>
              <a:t> </a:t>
            </a:r>
          </a:p>
          <a:p>
            <a:pPr marL="1295400" lvl="2" indent="-431800" algn="just">
              <a:lnSpc>
                <a:spcPts val="3300"/>
              </a:lnSpc>
              <a:spcBef>
                <a:spcPct val="0"/>
              </a:spcBef>
              <a:buFont typeface="Arial"/>
              <a:buChar char="⚬"/>
            </a:pPr>
            <a:r>
              <a:rPr lang="en-US" sz="3000" dirty="0">
                <a:solidFill>
                  <a:srgbClr val="0A3D62"/>
                </a:solidFill>
                <a:latin typeface="Noto Sans Kr"/>
                <a:ea typeface="Noto Sans Kr"/>
                <a:cs typeface="Noto Sans Kr"/>
                <a:sym typeface="Noto Sans Kr"/>
              </a:rPr>
              <a:t>EMA(12)</a:t>
            </a:r>
          </a:p>
          <a:p>
            <a:pPr marL="1295400" lvl="2" indent="-431800" algn="just">
              <a:lnSpc>
                <a:spcPts val="3300"/>
              </a:lnSpc>
              <a:spcBef>
                <a:spcPct val="0"/>
              </a:spcBef>
              <a:buFont typeface="Arial"/>
              <a:buChar char="⚬"/>
            </a:pPr>
            <a:r>
              <a:rPr lang="en-US" sz="3000" dirty="0">
                <a:solidFill>
                  <a:srgbClr val="0A3D62"/>
                </a:solidFill>
                <a:latin typeface="Noto Sans Kr"/>
                <a:ea typeface="Noto Sans Kr"/>
                <a:cs typeface="Noto Sans Kr"/>
                <a:sym typeface="Noto Sans Kr"/>
              </a:rPr>
              <a:t>EMA(26)</a:t>
            </a:r>
          </a:p>
          <a:p>
            <a:pPr marL="1295400" lvl="2" indent="-431800" algn="just">
              <a:lnSpc>
                <a:spcPts val="3300"/>
              </a:lnSpc>
              <a:spcBef>
                <a:spcPct val="0"/>
              </a:spcBef>
              <a:buFont typeface="Arial"/>
              <a:buChar char="⚬"/>
            </a:pPr>
            <a:r>
              <a:rPr lang="en-US" sz="3000" dirty="0">
                <a:solidFill>
                  <a:srgbClr val="0A3D62"/>
                </a:solidFill>
                <a:latin typeface="Noto Sans Kr"/>
                <a:ea typeface="Noto Sans Kr"/>
                <a:cs typeface="Noto Sans Kr"/>
                <a:sym typeface="Noto Sans Kr"/>
              </a:rPr>
              <a:t>MACD</a:t>
            </a:r>
          </a:p>
          <a:p>
            <a:pPr marL="647700" lvl="1" indent="-323850" algn="just">
              <a:lnSpc>
                <a:spcPts val="3300"/>
              </a:lnSpc>
              <a:spcBef>
                <a:spcPct val="0"/>
              </a:spcBef>
              <a:buFont typeface="Arial"/>
              <a:buChar char="•"/>
            </a:pPr>
            <a:r>
              <a:rPr lang="en-US" sz="3000" b="1" dirty="0" err="1">
                <a:solidFill>
                  <a:srgbClr val="0A3D62"/>
                </a:solidFill>
                <a:latin typeface="Noto Sans Kr Bold"/>
                <a:ea typeface="Noto Sans Kr Bold"/>
                <a:cs typeface="Noto Sans Kr Bold"/>
                <a:sym typeface="Noto Sans Kr Bold"/>
              </a:rPr>
              <a:t>모멘텀</a:t>
            </a:r>
            <a:r>
              <a:rPr lang="en-US" sz="3000" dirty="0">
                <a:solidFill>
                  <a:srgbClr val="0A3D62"/>
                </a:solidFill>
                <a:latin typeface="Noto Sans Kr"/>
                <a:ea typeface="Noto Sans Kr"/>
                <a:cs typeface="Noto Sans Kr"/>
                <a:sym typeface="Noto Sans Kr"/>
              </a:rPr>
              <a:t> </a:t>
            </a:r>
          </a:p>
          <a:p>
            <a:pPr marL="1295400" lvl="2" indent="-431800" algn="just">
              <a:lnSpc>
                <a:spcPts val="3300"/>
              </a:lnSpc>
              <a:spcBef>
                <a:spcPct val="0"/>
              </a:spcBef>
              <a:buFont typeface="Arial"/>
              <a:buChar char="⚬"/>
            </a:pPr>
            <a:r>
              <a:rPr lang="en-US" sz="3000" dirty="0">
                <a:solidFill>
                  <a:srgbClr val="0A3D62"/>
                </a:solidFill>
                <a:latin typeface="Noto Sans Kr"/>
                <a:ea typeface="Noto Sans Kr"/>
                <a:cs typeface="Noto Sans Kr"/>
                <a:sym typeface="Noto Sans Kr"/>
              </a:rPr>
              <a:t>RSI(14)</a:t>
            </a:r>
          </a:p>
          <a:p>
            <a:pPr marL="1295400" lvl="2" indent="-431800" algn="just">
              <a:lnSpc>
                <a:spcPts val="3300"/>
              </a:lnSpc>
              <a:spcBef>
                <a:spcPct val="0"/>
              </a:spcBef>
              <a:buFont typeface="Arial"/>
              <a:buChar char="⚬"/>
            </a:pPr>
            <a:r>
              <a:rPr lang="en-US" sz="3000" dirty="0">
                <a:solidFill>
                  <a:srgbClr val="0A3D62"/>
                </a:solidFill>
                <a:latin typeface="Noto Sans Kr"/>
                <a:ea typeface="Noto Sans Kr"/>
                <a:cs typeface="Noto Sans Kr"/>
                <a:sym typeface="Noto Sans Kr"/>
              </a:rPr>
              <a:t>ROC(10)</a:t>
            </a:r>
          </a:p>
          <a:p>
            <a:pPr marL="647700" lvl="1" indent="-323850" algn="just">
              <a:lnSpc>
                <a:spcPts val="3300"/>
              </a:lnSpc>
              <a:spcBef>
                <a:spcPct val="0"/>
              </a:spcBef>
              <a:buFont typeface="Arial"/>
              <a:buChar char="•"/>
            </a:pPr>
            <a:r>
              <a:rPr lang="en-US" sz="3000" b="1" dirty="0" err="1">
                <a:solidFill>
                  <a:srgbClr val="0A3D62"/>
                </a:solidFill>
                <a:latin typeface="Noto Sans Kr Bold"/>
                <a:ea typeface="Noto Sans Kr Bold"/>
                <a:cs typeface="Noto Sans Kr Bold"/>
                <a:sym typeface="Noto Sans Kr Bold"/>
              </a:rPr>
              <a:t>거래량</a:t>
            </a:r>
            <a:endParaRPr lang="en-US" sz="3000" b="1" dirty="0">
              <a:solidFill>
                <a:srgbClr val="0A3D62"/>
              </a:solidFill>
              <a:latin typeface="Noto Sans Kr Bold"/>
              <a:ea typeface="Noto Sans Kr Bold"/>
              <a:cs typeface="Noto Sans Kr Bold"/>
              <a:sym typeface="Noto Sans Kr Bold"/>
            </a:endParaRPr>
          </a:p>
          <a:p>
            <a:pPr marL="1295400" lvl="2" indent="-431800" algn="just">
              <a:lnSpc>
                <a:spcPts val="3300"/>
              </a:lnSpc>
              <a:spcBef>
                <a:spcPct val="0"/>
              </a:spcBef>
              <a:buFont typeface="Arial"/>
              <a:buChar char="⚬"/>
            </a:pPr>
            <a:r>
              <a:rPr lang="en-US" sz="3000" dirty="0">
                <a:solidFill>
                  <a:srgbClr val="0A3D62"/>
                </a:solidFill>
                <a:latin typeface="Noto Sans Kr"/>
                <a:ea typeface="Noto Sans Kr"/>
                <a:cs typeface="Noto Sans Kr"/>
                <a:sym typeface="Noto Sans Kr"/>
              </a:rPr>
              <a:t> Volume z-score (20d)</a:t>
            </a:r>
          </a:p>
          <a:p>
            <a:pPr marL="647700" lvl="1" indent="-323850" algn="just">
              <a:lnSpc>
                <a:spcPts val="3300"/>
              </a:lnSpc>
              <a:spcBef>
                <a:spcPct val="0"/>
              </a:spcBef>
              <a:buFont typeface="Arial"/>
              <a:buChar char="•"/>
            </a:pPr>
            <a:r>
              <a:rPr lang="en-US" sz="3000" b="1" dirty="0" err="1">
                <a:solidFill>
                  <a:srgbClr val="0A3D62"/>
                </a:solidFill>
                <a:latin typeface="Noto Sans Kr Bold"/>
                <a:ea typeface="Noto Sans Kr Bold"/>
                <a:cs typeface="Noto Sans Kr Bold"/>
                <a:sym typeface="Noto Sans Kr Bold"/>
              </a:rPr>
              <a:t>시장</a:t>
            </a:r>
            <a:r>
              <a:rPr lang="en-US" sz="3000" b="1" dirty="0">
                <a:solidFill>
                  <a:srgbClr val="0A3D62"/>
                </a:solidFill>
                <a:latin typeface="Noto Sans Kr Bold"/>
                <a:ea typeface="Noto Sans Kr Bold"/>
                <a:cs typeface="Noto Sans Kr Bold"/>
                <a:sym typeface="Noto Sans Kr Bold"/>
              </a:rPr>
              <a:t> </a:t>
            </a:r>
            <a:r>
              <a:rPr lang="en-US" sz="3000" b="1" dirty="0" err="1">
                <a:solidFill>
                  <a:srgbClr val="0A3D62"/>
                </a:solidFill>
                <a:latin typeface="Noto Sans Kr Bold"/>
                <a:ea typeface="Noto Sans Kr Bold"/>
                <a:cs typeface="Noto Sans Kr Bold"/>
                <a:sym typeface="Noto Sans Kr Bold"/>
              </a:rPr>
              <a:t>레짐</a:t>
            </a:r>
            <a:r>
              <a:rPr lang="en-US" sz="3000" b="1" dirty="0">
                <a:solidFill>
                  <a:srgbClr val="0A3D62"/>
                </a:solidFill>
                <a:latin typeface="Noto Sans Kr Bold"/>
                <a:ea typeface="Noto Sans Kr Bold"/>
                <a:cs typeface="Noto Sans Kr Bold"/>
                <a:sym typeface="Noto Sans Kr Bold"/>
              </a:rPr>
              <a:t>(</a:t>
            </a:r>
            <a:r>
              <a:rPr lang="en-US" sz="3000" b="1" dirty="0" err="1">
                <a:solidFill>
                  <a:srgbClr val="0A3D62"/>
                </a:solidFill>
                <a:latin typeface="Noto Sans Kr Bold"/>
                <a:ea typeface="Noto Sans Kr Bold"/>
                <a:cs typeface="Noto Sans Kr Bold"/>
                <a:sym typeface="Noto Sans Kr Bold"/>
              </a:rPr>
              <a:t>외생</a:t>
            </a:r>
            <a:r>
              <a:rPr lang="en-US" sz="3000" b="1" dirty="0">
                <a:solidFill>
                  <a:srgbClr val="0A3D62"/>
                </a:solidFill>
                <a:latin typeface="Noto Sans Kr Bold"/>
                <a:ea typeface="Noto Sans Kr Bold"/>
                <a:cs typeface="Noto Sans Kr Bold"/>
                <a:sym typeface="Noto Sans Kr Bold"/>
              </a:rPr>
              <a:t> </a:t>
            </a:r>
            <a:r>
              <a:rPr lang="en-US" sz="3000" b="1" dirty="0" err="1">
                <a:solidFill>
                  <a:srgbClr val="0A3D62"/>
                </a:solidFill>
                <a:latin typeface="Noto Sans Kr Bold"/>
                <a:ea typeface="Noto Sans Kr Bold"/>
                <a:cs typeface="Noto Sans Kr Bold"/>
                <a:sym typeface="Noto Sans Kr Bold"/>
              </a:rPr>
              <a:t>변수</a:t>
            </a:r>
            <a:r>
              <a:rPr lang="en-US" sz="3000" b="1" dirty="0">
                <a:solidFill>
                  <a:srgbClr val="0A3D62"/>
                </a:solidFill>
                <a:latin typeface="Noto Sans Kr Bold"/>
                <a:ea typeface="Noto Sans Kr Bold"/>
                <a:cs typeface="Noto Sans Kr Bold"/>
                <a:sym typeface="Noto Sans Kr Bold"/>
              </a:rPr>
              <a:t>)</a:t>
            </a:r>
          </a:p>
          <a:p>
            <a:pPr marL="1295400" lvl="2" indent="-431800" algn="just">
              <a:lnSpc>
                <a:spcPts val="3300"/>
              </a:lnSpc>
              <a:spcBef>
                <a:spcPct val="0"/>
              </a:spcBef>
              <a:buFont typeface="Arial"/>
              <a:buChar char="⚬"/>
            </a:pPr>
            <a:r>
              <a:rPr lang="en-US" sz="3000" dirty="0">
                <a:solidFill>
                  <a:srgbClr val="0A3D62"/>
                </a:solidFill>
                <a:latin typeface="Noto Sans Kr"/>
                <a:ea typeface="Noto Sans Kr"/>
                <a:cs typeface="Noto Sans Kr"/>
                <a:sym typeface="Noto Sans Kr"/>
              </a:rPr>
              <a:t>VIX</a:t>
            </a:r>
          </a:p>
          <a:p>
            <a:pPr marL="1295400" lvl="2" indent="-431800" algn="just">
              <a:lnSpc>
                <a:spcPts val="3300"/>
              </a:lnSpc>
              <a:spcBef>
                <a:spcPct val="0"/>
              </a:spcBef>
              <a:buFont typeface="Arial"/>
              <a:buChar char="⚬"/>
            </a:pPr>
            <a:r>
              <a:rPr lang="en-US" sz="3000" dirty="0">
                <a:solidFill>
                  <a:srgbClr val="0A3D62"/>
                </a:solidFill>
                <a:latin typeface="Noto Sans Kr"/>
                <a:ea typeface="Noto Sans Kr"/>
                <a:cs typeface="Noto Sans Kr"/>
                <a:sym typeface="Noto Sans Kr"/>
              </a:rPr>
              <a:t>IEF </a:t>
            </a:r>
          </a:p>
          <a:p>
            <a:pPr marL="1295400" lvl="2" indent="-431800" algn="just">
              <a:lnSpc>
                <a:spcPts val="3300"/>
              </a:lnSpc>
              <a:spcBef>
                <a:spcPct val="0"/>
              </a:spcBef>
              <a:buFont typeface="Arial"/>
              <a:buChar char="⚬"/>
            </a:pPr>
            <a:r>
              <a:rPr lang="en-US" sz="3000" dirty="0">
                <a:solidFill>
                  <a:srgbClr val="0A3D62"/>
                </a:solidFill>
                <a:latin typeface="Noto Sans Kr"/>
                <a:ea typeface="Noto Sans Kr"/>
                <a:cs typeface="Noto Sans Kr"/>
                <a:sym typeface="Noto Sans Kr"/>
              </a:rPr>
              <a:t>UUP</a:t>
            </a:r>
          </a:p>
          <a:p>
            <a:pPr marL="863600" lvl="2" algn="just">
              <a:lnSpc>
                <a:spcPts val="3300"/>
              </a:lnSpc>
              <a:spcBef>
                <a:spcPct val="0"/>
              </a:spcBef>
            </a:pPr>
            <a:endParaRPr lang="en-US" sz="3000" dirty="0">
              <a:solidFill>
                <a:srgbClr val="0A3D62"/>
              </a:solidFill>
              <a:latin typeface="Noto Sans Kr"/>
              <a:ea typeface="Noto Sans Kr"/>
              <a:cs typeface="Noto Sans Kr"/>
              <a:sym typeface="Noto Sans Kr"/>
            </a:endParaRPr>
          </a:p>
          <a:p>
            <a:pPr marL="1295400" lvl="2" indent="-431800" algn="just">
              <a:lnSpc>
                <a:spcPts val="3300"/>
              </a:lnSpc>
              <a:spcBef>
                <a:spcPct val="0"/>
              </a:spcBef>
              <a:buFont typeface="Arial"/>
              <a:buChar char="⚬"/>
            </a:pPr>
            <a:endParaRPr lang="en-US" sz="3000" dirty="0">
              <a:solidFill>
                <a:srgbClr val="0A3D62"/>
              </a:solidFill>
              <a:latin typeface="Noto Sans Kr"/>
              <a:ea typeface="Noto Sans Kr"/>
              <a:cs typeface="Noto Sans Kr"/>
              <a:sym typeface="Noto Sans Kr"/>
            </a:endParaRPr>
          </a:p>
        </p:txBody>
      </p:sp>
      <p:sp>
        <p:nvSpPr>
          <p:cNvPr id="6" name="TextBox 6"/>
          <p:cNvSpPr txBox="1"/>
          <p:nvPr/>
        </p:nvSpPr>
        <p:spPr>
          <a:xfrm>
            <a:off x="8897503" y="9707753"/>
            <a:ext cx="492993" cy="447675"/>
          </a:xfrm>
          <a:prstGeom prst="rect">
            <a:avLst/>
          </a:prstGeom>
        </p:spPr>
        <p:txBody>
          <a:bodyPr lIns="0" tIns="0" rIns="0" bIns="0" rtlCol="0" anchor="t">
            <a:spAutoFit/>
          </a:bodyPr>
          <a:lstStyle/>
          <a:p>
            <a:pPr algn="ctr">
              <a:lnSpc>
                <a:spcPts val="3300"/>
              </a:lnSpc>
              <a:spcBef>
                <a:spcPct val="0"/>
              </a:spcBef>
            </a:pPr>
            <a:r>
              <a:rPr lang="en-US" sz="3000">
                <a:solidFill>
                  <a:srgbClr val="000000"/>
                </a:solidFill>
                <a:latin typeface="Georgia Pro Light"/>
                <a:ea typeface="Georgia Pro Light"/>
                <a:cs typeface="Georgia Pro Light"/>
                <a:sym typeface="Georgia Pro Light"/>
              </a:rPr>
              <a:t>-4-</a:t>
            </a:r>
          </a:p>
        </p:txBody>
      </p:sp>
      <p:sp>
        <p:nvSpPr>
          <p:cNvPr id="7" name="TextBox 6">
            <a:extLst>
              <a:ext uri="{FF2B5EF4-FFF2-40B4-BE49-F238E27FC236}">
                <a16:creationId xmlns:a16="http://schemas.microsoft.com/office/drawing/2014/main" id="{6E7CF80E-23DB-3FD8-FDB1-5ED9A8EC7BBA}"/>
              </a:ext>
            </a:extLst>
          </p:cNvPr>
          <p:cNvSpPr txBox="1"/>
          <p:nvPr/>
        </p:nvSpPr>
        <p:spPr>
          <a:xfrm>
            <a:off x="582085" y="2997203"/>
            <a:ext cx="184731" cy="1485022"/>
          </a:xfrm>
          <a:prstGeom prst="rect">
            <a:avLst/>
          </a:prstGeom>
          <a:noFill/>
        </p:spPr>
        <p:txBody>
          <a:bodyPr wrap="none" rtlCol="0">
            <a:spAutoFit/>
          </a:bodyPr>
          <a:lstStyle/>
          <a:p>
            <a:pPr algn="l">
              <a:lnSpc>
                <a:spcPts val="2940"/>
              </a:lnSpc>
            </a:pPr>
            <a:endParaRPr lang="en-US" altLang="ko-KR" sz="3000" dirty="0">
              <a:solidFill>
                <a:srgbClr val="0A3D62"/>
              </a:solidFill>
              <a:latin typeface=""/>
              <a:ea typeface="DM Sans"/>
              <a:cs typeface="DM Sans"/>
              <a:sym typeface="DM Sans"/>
            </a:endParaRPr>
          </a:p>
          <a:p>
            <a:pPr algn="l">
              <a:lnSpc>
                <a:spcPts val="2940"/>
              </a:lnSpc>
            </a:pPr>
            <a:endParaRPr lang="en-US" altLang="ko-KR" sz="3000" dirty="0">
              <a:solidFill>
                <a:srgbClr val="0A3D62"/>
              </a:solidFill>
              <a:latin typeface=""/>
              <a:ea typeface="DM Sans"/>
              <a:cs typeface="DM Sans"/>
              <a:sym typeface="DM Sans"/>
            </a:endParaRPr>
          </a:p>
          <a:p>
            <a:pPr algn="l">
              <a:lnSpc>
                <a:spcPts val="2940"/>
              </a:lnSpc>
            </a:pPr>
            <a:endParaRPr lang="en-US" altLang="ko-KR" sz="3000" dirty="0">
              <a:solidFill>
                <a:srgbClr val="0A3D62"/>
              </a:solidFill>
              <a:latin typeface=""/>
              <a:ea typeface="DM Sans"/>
              <a:cs typeface="DM Sans"/>
              <a:sym typeface="DM Sans"/>
            </a:endParaRPr>
          </a:p>
          <a:p>
            <a:endParaRPr kumimoji="1" lang="ko-KR" altLang="en-US" dirty="0">
              <a:latin typeface=""/>
            </a:endParaRPr>
          </a:p>
        </p:txBody>
      </p:sp>
      <p:sp>
        <p:nvSpPr>
          <p:cNvPr id="8" name="TextBox 7">
            <a:extLst>
              <a:ext uri="{FF2B5EF4-FFF2-40B4-BE49-F238E27FC236}">
                <a16:creationId xmlns:a16="http://schemas.microsoft.com/office/drawing/2014/main" id="{E5F9B9EE-F355-77ED-E0D5-0B289D58D44C}"/>
              </a:ext>
            </a:extLst>
          </p:cNvPr>
          <p:cNvSpPr txBox="1"/>
          <p:nvPr/>
        </p:nvSpPr>
        <p:spPr>
          <a:xfrm>
            <a:off x="766816" y="3674637"/>
            <a:ext cx="7133941" cy="5632311"/>
          </a:xfrm>
          <a:prstGeom prst="rect">
            <a:avLst/>
          </a:prstGeom>
          <a:noFill/>
        </p:spPr>
        <p:txBody>
          <a:bodyPr wrap="none" rtlCol="0">
            <a:spAutoFit/>
          </a:bodyPr>
          <a:lstStyle/>
          <a:p>
            <a:r>
              <a:rPr lang="ko-KR" altLang="en-US" sz="3000" b="1" i="0" dirty="0">
                <a:solidFill>
                  <a:schemeClr val="tx2"/>
                </a:solidFill>
                <a:effectLst/>
                <a:latin typeface="YAD1aU3sLnI_0"/>
              </a:rPr>
              <a:t>모델</a:t>
            </a:r>
            <a:r>
              <a:rPr lang="en-US" altLang="ko-KR" sz="3000" b="0" i="0" dirty="0">
                <a:solidFill>
                  <a:schemeClr val="tx2"/>
                </a:solidFill>
                <a:effectLst/>
                <a:latin typeface="YAD1aU3sLnI_0"/>
              </a:rPr>
              <a:t>: </a:t>
            </a:r>
            <a:r>
              <a:rPr lang="en" altLang="ko-KR" sz="3000" b="0" i="0" dirty="0" err="1">
                <a:solidFill>
                  <a:schemeClr val="tx2"/>
                </a:solidFill>
                <a:effectLst/>
                <a:latin typeface="YAD1aU3sLnI_0"/>
              </a:rPr>
              <a:t>LightGBM</a:t>
            </a:r>
            <a:r>
              <a:rPr lang="en" altLang="ko-KR" sz="3000" b="0" i="0" dirty="0">
                <a:solidFill>
                  <a:schemeClr val="tx2"/>
                </a:solidFill>
                <a:effectLst/>
                <a:latin typeface="YAD1aU3sLnI_0"/>
              </a:rPr>
              <a:t> (Binary Classification)</a:t>
            </a:r>
          </a:p>
          <a:p>
            <a:endParaRPr lang="en" altLang="ko-KR" sz="3000" dirty="0">
              <a:solidFill>
                <a:schemeClr val="tx2"/>
              </a:solidFill>
              <a:effectLst/>
              <a:latin typeface="YAD1aU3sLnI_0"/>
            </a:endParaRPr>
          </a:p>
          <a:p>
            <a:r>
              <a:rPr lang="ko-KR" altLang="en-US" sz="3000" b="1" i="0" dirty="0">
                <a:solidFill>
                  <a:schemeClr val="tx2"/>
                </a:solidFill>
                <a:effectLst/>
                <a:latin typeface="YAD1aU3sLnI_0"/>
              </a:rPr>
              <a:t>데이터셋 </a:t>
            </a:r>
            <a:r>
              <a:rPr lang="en-US" altLang="ko-KR" sz="3000" b="1" i="0" dirty="0">
                <a:solidFill>
                  <a:schemeClr val="tx2"/>
                </a:solidFill>
                <a:effectLst/>
                <a:latin typeface="YAD1aU3sLnI_0"/>
              </a:rPr>
              <a:t>(</a:t>
            </a:r>
            <a:r>
              <a:rPr lang="ko-KR" altLang="en-US" sz="3000" b="1" i="0" dirty="0">
                <a:solidFill>
                  <a:schemeClr val="tx2"/>
                </a:solidFill>
                <a:effectLst/>
                <a:latin typeface="YAD1aU3sLnI_0"/>
              </a:rPr>
              <a:t>출처</a:t>
            </a:r>
            <a:r>
              <a:rPr lang="en-US" altLang="ko-KR" sz="3000" b="1" i="0" dirty="0">
                <a:solidFill>
                  <a:schemeClr val="tx2"/>
                </a:solidFill>
                <a:effectLst/>
                <a:latin typeface="YAD1aU3sLnI_0"/>
              </a:rPr>
              <a:t>: </a:t>
            </a:r>
            <a:r>
              <a:rPr lang="en" altLang="ko-KR" sz="3000" b="1" i="0" dirty="0" err="1">
                <a:solidFill>
                  <a:schemeClr val="tx2"/>
                </a:solidFill>
                <a:effectLst/>
                <a:latin typeface="YAD1aU3sLnI_0"/>
              </a:rPr>
              <a:t>yfinance</a:t>
            </a:r>
            <a:r>
              <a:rPr lang="en" altLang="ko-KR" sz="3000" b="1" i="0" dirty="0">
                <a:solidFill>
                  <a:schemeClr val="tx2"/>
                </a:solidFill>
                <a:effectLst/>
                <a:latin typeface="YAD1aU3sLnI_0"/>
              </a:rPr>
              <a:t>)</a:t>
            </a:r>
            <a:endParaRPr lang="en" altLang="ko-KR" sz="3000" dirty="0">
              <a:solidFill>
                <a:schemeClr val="tx2"/>
              </a:solidFill>
              <a:effectLst/>
              <a:latin typeface="YAD1aU3sLnI_0"/>
            </a:endParaRPr>
          </a:p>
          <a:p>
            <a:pPr>
              <a:buFont typeface="Arial" panose="020B0604020202020204" pitchFamily="34" charset="0"/>
              <a:buChar char="•"/>
            </a:pPr>
            <a:r>
              <a:rPr lang="ko-KR" altLang="en-US" sz="3000" b="0" i="0" dirty="0">
                <a:solidFill>
                  <a:schemeClr val="tx2"/>
                </a:solidFill>
                <a:effectLst/>
              </a:rPr>
              <a:t>멀티 자산 패널 데이터 </a:t>
            </a:r>
            <a:r>
              <a:rPr lang="en-US" altLang="ko-KR" sz="3000" b="0" i="0" dirty="0">
                <a:solidFill>
                  <a:schemeClr val="tx2"/>
                </a:solidFill>
                <a:effectLst/>
              </a:rPr>
              <a:t>(</a:t>
            </a:r>
            <a:r>
              <a:rPr lang="en" altLang="ko-KR" sz="3000" b="0" i="0" dirty="0">
                <a:solidFill>
                  <a:schemeClr val="tx2"/>
                </a:solidFill>
                <a:effectLst/>
              </a:rPr>
              <a:t>Panel Data)</a:t>
            </a:r>
            <a:endParaRPr lang="en" altLang="ko-KR" sz="3000" dirty="0">
              <a:solidFill>
                <a:schemeClr val="tx2"/>
              </a:solidFill>
            </a:endParaRPr>
          </a:p>
          <a:p>
            <a:pPr>
              <a:buFont typeface="Arial" panose="020B0604020202020204" pitchFamily="34" charset="0"/>
              <a:buChar char="•"/>
            </a:pPr>
            <a:r>
              <a:rPr lang="ko-KR" altLang="en-US" sz="3000" b="0" i="0" dirty="0" err="1">
                <a:solidFill>
                  <a:schemeClr val="tx2"/>
                </a:solidFill>
                <a:effectLst/>
              </a:rPr>
              <a:t>자산군</a:t>
            </a:r>
            <a:r>
              <a:rPr lang="en-US" altLang="ko-KR" sz="3000" b="0" i="0" dirty="0">
                <a:solidFill>
                  <a:schemeClr val="tx2"/>
                </a:solidFill>
                <a:effectLst/>
              </a:rPr>
              <a:t>: </a:t>
            </a:r>
            <a:r>
              <a:rPr lang="ko-KR" altLang="en-US" sz="3000" b="0" i="0" dirty="0">
                <a:solidFill>
                  <a:schemeClr val="tx2"/>
                </a:solidFill>
                <a:effectLst/>
              </a:rPr>
              <a:t>주식</a:t>
            </a:r>
            <a:r>
              <a:rPr lang="en-US" altLang="ko-KR" sz="3000" b="0" i="0" dirty="0">
                <a:solidFill>
                  <a:schemeClr val="tx2"/>
                </a:solidFill>
                <a:effectLst/>
              </a:rPr>
              <a:t>(</a:t>
            </a:r>
            <a:r>
              <a:rPr lang="en" altLang="ko-KR" sz="3000" b="0" i="0" dirty="0">
                <a:solidFill>
                  <a:schemeClr val="tx2"/>
                </a:solidFill>
                <a:effectLst/>
              </a:rPr>
              <a:t>SPY), </a:t>
            </a:r>
            <a:r>
              <a:rPr lang="ko-KR" altLang="en-US" sz="3000" b="0" i="0" dirty="0">
                <a:solidFill>
                  <a:schemeClr val="tx2"/>
                </a:solidFill>
                <a:effectLst/>
              </a:rPr>
              <a:t>채권</a:t>
            </a:r>
            <a:r>
              <a:rPr lang="en-US" altLang="ko-KR" sz="3000" b="0" i="0" dirty="0">
                <a:solidFill>
                  <a:schemeClr val="tx2"/>
                </a:solidFill>
                <a:effectLst/>
              </a:rPr>
              <a:t>(</a:t>
            </a:r>
            <a:r>
              <a:rPr lang="en" altLang="ko-KR" sz="3000" b="0" i="0" dirty="0">
                <a:solidFill>
                  <a:schemeClr val="tx2"/>
                </a:solidFill>
                <a:effectLst/>
              </a:rPr>
              <a:t>TLT), </a:t>
            </a:r>
            <a:r>
              <a:rPr lang="ko-KR" altLang="en-US" sz="3000" b="0" i="0" dirty="0">
                <a:solidFill>
                  <a:schemeClr val="tx2"/>
                </a:solidFill>
                <a:effectLst/>
              </a:rPr>
              <a:t>원자재</a:t>
            </a:r>
            <a:r>
              <a:rPr lang="en-US" altLang="ko-KR" sz="3000" b="0" i="0" dirty="0">
                <a:solidFill>
                  <a:schemeClr val="tx2"/>
                </a:solidFill>
                <a:effectLst/>
              </a:rPr>
              <a:t>(</a:t>
            </a:r>
            <a:r>
              <a:rPr lang="en" altLang="ko-KR" sz="3000" b="0" i="0" dirty="0">
                <a:solidFill>
                  <a:schemeClr val="tx2"/>
                </a:solidFill>
                <a:effectLst/>
              </a:rPr>
              <a:t>GLD)</a:t>
            </a:r>
          </a:p>
          <a:p>
            <a:endParaRPr lang="en" altLang="ko-KR" sz="3000" dirty="0">
              <a:solidFill>
                <a:schemeClr val="tx2"/>
              </a:solidFill>
            </a:endParaRPr>
          </a:p>
          <a:p>
            <a:r>
              <a:rPr lang="ko-KR" altLang="en-US" sz="3000" b="1" i="0" dirty="0">
                <a:solidFill>
                  <a:schemeClr val="tx2"/>
                </a:solidFill>
                <a:effectLst/>
                <a:latin typeface="YAD1aU3sLnI_0"/>
              </a:rPr>
              <a:t>데이터 규모 및 기간</a:t>
            </a:r>
            <a:endParaRPr lang="ko-KR" altLang="en-US" sz="3000" dirty="0">
              <a:solidFill>
                <a:schemeClr val="tx2"/>
              </a:solidFill>
              <a:effectLst/>
              <a:latin typeface="YAD1aU3sLnI_0"/>
            </a:endParaRPr>
          </a:p>
          <a:p>
            <a:pPr>
              <a:buFont typeface="Arial" panose="020B0604020202020204" pitchFamily="34" charset="0"/>
              <a:buChar char="•"/>
            </a:pPr>
            <a:r>
              <a:rPr lang="ko-KR" altLang="en-US" sz="3000" b="0" i="0" dirty="0">
                <a:solidFill>
                  <a:schemeClr val="tx2"/>
                </a:solidFill>
                <a:effectLst/>
              </a:rPr>
              <a:t>기간</a:t>
            </a:r>
            <a:r>
              <a:rPr lang="en-US" altLang="ko-KR" sz="3000" b="0" i="0" dirty="0">
                <a:solidFill>
                  <a:schemeClr val="tx2"/>
                </a:solidFill>
                <a:effectLst/>
              </a:rPr>
              <a:t>: 2012.01 ~ 2025.12 (</a:t>
            </a:r>
            <a:r>
              <a:rPr lang="en" altLang="ko-KR" sz="3000" b="0" i="0" dirty="0">
                <a:solidFill>
                  <a:schemeClr val="tx2"/>
                </a:solidFill>
                <a:effectLst/>
              </a:rPr>
              <a:t>Daily, </a:t>
            </a:r>
            <a:r>
              <a:rPr lang="ko-KR" altLang="en-US" sz="3000" b="0" i="0" dirty="0">
                <a:solidFill>
                  <a:schemeClr val="tx2"/>
                </a:solidFill>
                <a:effectLst/>
              </a:rPr>
              <a:t>약 </a:t>
            </a:r>
            <a:r>
              <a:rPr lang="en-US" altLang="ko-KR" sz="3000" b="0" i="0" dirty="0">
                <a:solidFill>
                  <a:schemeClr val="tx2"/>
                </a:solidFill>
                <a:effectLst/>
              </a:rPr>
              <a:t>14</a:t>
            </a:r>
            <a:r>
              <a:rPr lang="ko-KR" altLang="en-US" sz="3000" b="0" i="0" dirty="0">
                <a:solidFill>
                  <a:schemeClr val="tx2"/>
                </a:solidFill>
                <a:effectLst/>
              </a:rPr>
              <a:t>년</a:t>
            </a:r>
            <a:r>
              <a:rPr lang="en-US" altLang="ko-KR" sz="3000" b="0" i="0" dirty="0">
                <a:solidFill>
                  <a:schemeClr val="tx2"/>
                </a:solidFill>
                <a:effectLst/>
              </a:rPr>
              <a:t>)</a:t>
            </a:r>
            <a:endParaRPr lang="ko-KR" altLang="en-US" sz="3000" dirty="0">
              <a:solidFill>
                <a:schemeClr val="tx2"/>
              </a:solidFill>
            </a:endParaRPr>
          </a:p>
          <a:p>
            <a:pPr>
              <a:buFont typeface="Arial" panose="020B0604020202020204" pitchFamily="34" charset="0"/>
              <a:buChar char="•"/>
            </a:pPr>
            <a:r>
              <a:rPr lang="ko-KR" altLang="en-US" sz="3000" b="0" i="0" dirty="0">
                <a:solidFill>
                  <a:schemeClr val="tx2"/>
                </a:solidFill>
                <a:effectLst/>
              </a:rPr>
              <a:t>전체 패널 데이터</a:t>
            </a:r>
            <a:r>
              <a:rPr lang="en-US" altLang="ko-KR" sz="3000" b="0" i="0" dirty="0">
                <a:solidFill>
                  <a:schemeClr val="tx2"/>
                </a:solidFill>
                <a:effectLst/>
              </a:rPr>
              <a:t>: </a:t>
            </a:r>
            <a:r>
              <a:rPr lang="ko-KR" altLang="en-US" sz="3000" b="0" i="0" dirty="0">
                <a:solidFill>
                  <a:schemeClr val="tx2"/>
                </a:solidFill>
                <a:effectLst/>
              </a:rPr>
              <a:t>약 </a:t>
            </a:r>
            <a:r>
              <a:rPr lang="en-US" altLang="ko-KR" sz="3000" b="0" i="0" dirty="0">
                <a:solidFill>
                  <a:schemeClr val="tx2"/>
                </a:solidFill>
                <a:effectLst/>
              </a:rPr>
              <a:t>10,377 </a:t>
            </a:r>
            <a:r>
              <a:rPr lang="en" altLang="ko-KR" sz="3000" b="0" i="0" dirty="0">
                <a:solidFill>
                  <a:schemeClr val="tx2"/>
                </a:solidFill>
                <a:effectLst/>
              </a:rPr>
              <a:t>rows</a:t>
            </a:r>
            <a:endParaRPr lang="en" altLang="ko-KR" sz="3000" dirty="0">
              <a:solidFill>
                <a:schemeClr val="tx2"/>
              </a:solidFill>
            </a:endParaRPr>
          </a:p>
          <a:p>
            <a:pPr>
              <a:buFont typeface="Arial" panose="020B0604020202020204" pitchFamily="34" charset="0"/>
              <a:buChar char="•"/>
            </a:pPr>
            <a:r>
              <a:rPr lang="ko-KR" altLang="en-US" sz="3000" b="0" i="0" dirty="0" err="1">
                <a:solidFill>
                  <a:schemeClr val="tx2"/>
                </a:solidFill>
                <a:effectLst/>
              </a:rPr>
              <a:t>라벨링</a:t>
            </a:r>
            <a:r>
              <a:rPr lang="ko-KR" altLang="en-US" sz="3000" b="0" i="0" dirty="0">
                <a:solidFill>
                  <a:schemeClr val="tx2"/>
                </a:solidFill>
                <a:effectLst/>
              </a:rPr>
              <a:t> 후 학습 데이터</a:t>
            </a:r>
            <a:r>
              <a:rPr lang="en-US" altLang="ko-KR" sz="3000" b="0" i="0" dirty="0">
                <a:solidFill>
                  <a:schemeClr val="tx2"/>
                </a:solidFill>
                <a:effectLst/>
              </a:rPr>
              <a:t>: </a:t>
            </a:r>
            <a:r>
              <a:rPr lang="ko-KR" altLang="en-US" sz="3000" b="0" i="0" dirty="0">
                <a:solidFill>
                  <a:schemeClr val="tx2"/>
                </a:solidFill>
                <a:effectLst/>
              </a:rPr>
              <a:t>약 </a:t>
            </a:r>
            <a:r>
              <a:rPr lang="en-US" altLang="ko-KR" sz="3000" b="0" i="0" dirty="0">
                <a:solidFill>
                  <a:schemeClr val="tx2"/>
                </a:solidFill>
                <a:effectLst/>
              </a:rPr>
              <a:t>6,094 </a:t>
            </a:r>
            <a:r>
              <a:rPr lang="en" altLang="ko-KR" sz="3000" b="0" i="0" dirty="0">
                <a:solidFill>
                  <a:schemeClr val="tx2"/>
                </a:solidFill>
                <a:effectLst/>
              </a:rPr>
              <a:t>samples</a:t>
            </a:r>
            <a:endParaRPr lang="en" altLang="ko-KR" sz="3000" dirty="0">
              <a:solidFill>
                <a:schemeClr val="tx2"/>
              </a:solidFill>
            </a:endParaRPr>
          </a:p>
          <a:p>
            <a:pPr>
              <a:buFont typeface="Arial" panose="020B0604020202020204" pitchFamily="34" charset="0"/>
              <a:buChar char="•"/>
            </a:pPr>
            <a:r>
              <a:rPr lang="ko-KR" altLang="en-US" sz="3000" b="0" i="0" dirty="0">
                <a:solidFill>
                  <a:schemeClr val="tx2"/>
                </a:solidFill>
                <a:effectLst/>
              </a:rPr>
              <a:t>설명</a:t>
            </a:r>
            <a:r>
              <a:rPr lang="en-US" altLang="ko-KR" sz="3000" b="0" i="0" dirty="0">
                <a:solidFill>
                  <a:schemeClr val="tx2"/>
                </a:solidFill>
                <a:effectLst/>
              </a:rPr>
              <a:t>·</a:t>
            </a:r>
            <a:r>
              <a:rPr lang="ko-KR" altLang="en-US" sz="3000" b="0" i="0" dirty="0">
                <a:solidFill>
                  <a:schemeClr val="tx2"/>
                </a:solidFill>
                <a:effectLst/>
              </a:rPr>
              <a:t>신뢰도 평가 구간</a:t>
            </a:r>
            <a:r>
              <a:rPr lang="en-US" altLang="ko-KR" sz="3000" b="0" i="0" dirty="0">
                <a:solidFill>
                  <a:schemeClr val="tx2"/>
                </a:solidFill>
                <a:effectLst/>
              </a:rPr>
              <a:t>(</a:t>
            </a:r>
            <a:r>
              <a:rPr lang="en" altLang="ko-KR" sz="3000" b="0" i="0" dirty="0">
                <a:solidFill>
                  <a:schemeClr val="tx2"/>
                </a:solidFill>
                <a:effectLst/>
              </a:rPr>
              <a:t>OEP): </a:t>
            </a:r>
            <a:r>
              <a:rPr lang="ko-KR" altLang="en-US" sz="3000" b="0" i="0" dirty="0">
                <a:solidFill>
                  <a:schemeClr val="tx2"/>
                </a:solidFill>
                <a:effectLst/>
              </a:rPr>
              <a:t>최근 </a:t>
            </a:r>
            <a:r>
              <a:rPr lang="en-US" altLang="ko-KR" sz="3000" b="0" i="0" dirty="0">
                <a:solidFill>
                  <a:schemeClr val="tx2"/>
                </a:solidFill>
                <a:effectLst/>
              </a:rPr>
              <a:t>2</a:t>
            </a:r>
            <a:r>
              <a:rPr lang="ko-KR" altLang="en-US" sz="3000" b="0" i="0" dirty="0">
                <a:solidFill>
                  <a:schemeClr val="tx2"/>
                </a:solidFill>
                <a:effectLst/>
              </a:rPr>
              <a:t>년</a:t>
            </a:r>
            <a:endParaRPr lang="ko-KR" altLang="en-US" sz="3000" dirty="0">
              <a:solidFill>
                <a:schemeClr val="tx2"/>
              </a:solidFill>
            </a:endParaRPr>
          </a:p>
          <a:p>
            <a:endParaRPr kumimoji="1" lang="ko-KR" altLang="en-US" sz="3000" dirty="0">
              <a:solidFill>
                <a:schemeClr val="tx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
        <p:nvSpPr>
          <p:cNvPr id="2" name="TextBox 2"/>
          <p:cNvSpPr txBox="1"/>
          <p:nvPr/>
        </p:nvSpPr>
        <p:spPr>
          <a:xfrm>
            <a:off x="1028700" y="590550"/>
            <a:ext cx="12402944" cy="9658350"/>
          </a:xfrm>
          <a:prstGeom prst="rect">
            <a:avLst/>
          </a:prstGeom>
        </p:spPr>
        <p:txBody>
          <a:bodyPr lIns="0" tIns="0" rIns="0" bIns="0" rtlCol="0" anchor="t">
            <a:spAutoFit/>
          </a:bodyPr>
          <a:lstStyle/>
          <a:p>
            <a:pPr algn="just">
              <a:lnSpc>
                <a:spcPts val="3300"/>
              </a:lnSpc>
            </a:pPr>
            <a:r>
              <a:rPr lang="en-US" sz="3000" b="1">
                <a:solidFill>
                  <a:srgbClr val="0A3D62"/>
                </a:solidFill>
                <a:latin typeface="Noto Sans Kr Bold"/>
                <a:ea typeface="Noto Sans Kr Bold"/>
                <a:cs typeface="Noto Sans Kr Bold"/>
                <a:sym typeface="Noto Sans Kr Bold"/>
              </a:rPr>
              <a:t>Output Label</a:t>
            </a:r>
          </a:p>
          <a:p>
            <a:pPr algn="just">
              <a:lnSpc>
                <a:spcPts val="3300"/>
              </a:lnSpc>
            </a:pPr>
            <a:endParaRPr lang="en-US" sz="3000" b="1">
              <a:solidFill>
                <a:srgbClr val="0A3D62"/>
              </a:solidFill>
              <a:latin typeface="Noto Sans Kr Bold"/>
              <a:ea typeface="Noto Sans Kr Bold"/>
              <a:cs typeface="Noto Sans Kr Bold"/>
              <a:sym typeface="Noto Sans Kr Bold"/>
            </a:endParaRPr>
          </a:p>
          <a:p>
            <a:pPr marL="647700" lvl="1" indent="-323850" algn="just">
              <a:lnSpc>
                <a:spcPts val="3300"/>
              </a:lnSpc>
              <a:buFont typeface="Arial"/>
              <a:buChar char="•"/>
            </a:pPr>
            <a:r>
              <a:rPr lang="en-US" sz="3000">
                <a:solidFill>
                  <a:srgbClr val="0A3D62"/>
                </a:solidFill>
                <a:latin typeface="Noto Sans Kr"/>
                <a:ea typeface="Noto Sans Kr"/>
                <a:cs typeface="Noto Sans Kr"/>
                <a:sym typeface="Noto Sans Kr"/>
              </a:rPr>
              <a:t>매수와 매도에 대한 이진 분류 문제로 정의하고, 변동성 기반 동적 임계값을 적용한 이벤트 라벨링 방식으로 값을 결정함</a:t>
            </a:r>
          </a:p>
          <a:p>
            <a:pPr algn="just">
              <a:lnSpc>
                <a:spcPts val="3300"/>
              </a:lnSpc>
            </a:pPr>
            <a:endParaRPr lang="en-US" sz="3000">
              <a:solidFill>
                <a:srgbClr val="0A3D62"/>
              </a:solidFill>
              <a:latin typeface="Noto Sans Kr"/>
              <a:ea typeface="Noto Sans Kr"/>
              <a:cs typeface="Noto Sans Kr"/>
              <a:sym typeface="Noto Sans Kr"/>
            </a:endParaRPr>
          </a:p>
          <a:p>
            <a:pPr algn="just">
              <a:lnSpc>
                <a:spcPts val="3300"/>
              </a:lnSpc>
            </a:pPr>
            <a:endParaRPr lang="en-US" sz="3000">
              <a:solidFill>
                <a:srgbClr val="0A3D62"/>
              </a:solidFill>
              <a:latin typeface="Noto Sans Kr"/>
              <a:ea typeface="Noto Sans Kr"/>
              <a:cs typeface="Noto Sans Kr"/>
              <a:sym typeface="Noto Sans Kr"/>
            </a:endParaRPr>
          </a:p>
          <a:p>
            <a:pPr algn="just">
              <a:lnSpc>
                <a:spcPts val="3300"/>
              </a:lnSpc>
            </a:pPr>
            <a:endParaRPr lang="en-US" sz="3000">
              <a:solidFill>
                <a:srgbClr val="0A3D62"/>
              </a:solidFill>
              <a:latin typeface="Noto Sans Kr"/>
              <a:ea typeface="Noto Sans Kr"/>
              <a:cs typeface="Noto Sans Kr"/>
              <a:sym typeface="Noto Sans Kr"/>
            </a:endParaRPr>
          </a:p>
          <a:p>
            <a:pPr algn="just">
              <a:lnSpc>
                <a:spcPts val="3300"/>
              </a:lnSpc>
            </a:pPr>
            <a:endParaRPr lang="en-US" sz="3000">
              <a:solidFill>
                <a:srgbClr val="0A3D62"/>
              </a:solidFill>
              <a:latin typeface="Noto Sans Kr"/>
              <a:ea typeface="Noto Sans Kr"/>
              <a:cs typeface="Noto Sans Kr"/>
              <a:sym typeface="Noto Sans Kr"/>
            </a:endParaRPr>
          </a:p>
          <a:p>
            <a:pPr algn="just">
              <a:lnSpc>
                <a:spcPts val="3300"/>
              </a:lnSpc>
            </a:pPr>
            <a:endParaRPr lang="en-US" sz="3000">
              <a:solidFill>
                <a:srgbClr val="0A3D62"/>
              </a:solidFill>
              <a:latin typeface="Noto Sans Kr"/>
              <a:ea typeface="Noto Sans Kr"/>
              <a:cs typeface="Noto Sans Kr"/>
              <a:sym typeface="Noto Sans Kr"/>
            </a:endParaRPr>
          </a:p>
          <a:p>
            <a:pPr algn="just">
              <a:lnSpc>
                <a:spcPts val="3300"/>
              </a:lnSpc>
            </a:pPr>
            <a:endParaRPr lang="en-US" sz="3000">
              <a:solidFill>
                <a:srgbClr val="0A3D62"/>
              </a:solidFill>
              <a:latin typeface="Noto Sans Kr"/>
              <a:ea typeface="Noto Sans Kr"/>
              <a:cs typeface="Noto Sans Kr"/>
              <a:sym typeface="Noto Sans Kr"/>
            </a:endParaRPr>
          </a:p>
          <a:p>
            <a:pPr algn="just">
              <a:lnSpc>
                <a:spcPts val="3300"/>
              </a:lnSpc>
            </a:pPr>
            <a:endParaRPr lang="en-US" sz="3000">
              <a:solidFill>
                <a:srgbClr val="0A3D62"/>
              </a:solidFill>
              <a:latin typeface="Noto Sans Kr"/>
              <a:ea typeface="Noto Sans Kr"/>
              <a:cs typeface="Noto Sans Kr"/>
              <a:sym typeface="Noto Sans Kr"/>
            </a:endParaRPr>
          </a:p>
          <a:p>
            <a:pPr algn="just">
              <a:lnSpc>
                <a:spcPts val="3300"/>
              </a:lnSpc>
            </a:pPr>
            <a:endParaRPr lang="en-US" sz="3000">
              <a:solidFill>
                <a:srgbClr val="0A3D62"/>
              </a:solidFill>
              <a:latin typeface="Noto Sans Kr"/>
              <a:ea typeface="Noto Sans Kr"/>
              <a:cs typeface="Noto Sans Kr"/>
              <a:sym typeface="Noto Sans Kr"/>
            </a:endParaRPr>
          </a:p>
          <a:p>
            <a:pPr algn="just">
              <a:lnSpc>
                <a:spcPts val="3300"/>
              </a:lnSpc>
            </a:pPr>
            <a:endParaRPr lang="en-US" sz="3000">
              <a:solidFill>
                <a:srgbClr val="0A3D62"/>
              </a:solidFill>
              <a:latin typeface="Noto Sans Kr"/>
              <a:ea typeface="Noto Sans Kr"/>
              <a:cs typeface="Noto Sans Kr"/>
              <a:sym typeface="Noto Sans Kr"/>
            </a:endParaRPr>
          </a:p>
          <a:p>
            <a:pPr algn="just">
              <a:lnSpc>
                <a:spcPts val="3300"/>
              </a:lnSpc>
            </a:pPr>
            <a:endParaRPr lang="en-US" sz="3000">
              <a:solidFill>
                <a:srgbClr val="0A3D62"/>
              </a:solidFill>
              <a:latin typeface="Noto Sans Kr"/>
              <a:ea typeface="Noto Sans Kr"/>
              <a:cs typeface="Noto Sans Kr"/>
              <a:sym typeface="Noto Sans Kr"/>
            </a:endParaRPr>
          </a:p>
          <a:p>
            <a:pPr marL="647700" lvl="1" indent="-323850" algn="just">
              <a:lnSpc>
                <a:spcPts val="3300"/>
              </a:lnSpc>
              <a:buFont typeface="Arial"/>
              <a:buChar char="•"/>
            </a:pPr>
            <a:r>
              <a:rPr lang="en-US" sz="3000">
                <a:solidFill>
                  <a:srgbClr val="0A3D62"/>
                </a:solidFill>
                <a:latin typeface="Noto Sans Kr"/>
                <a:ea typeface="Noto Sans Kr"/>
                <a:cs typeface="Noto Sans Kr"/>
                <a:sym typeface="Noto Sans Kr"/>
              </a:rPr>
              <a:t>라벨 정의 근거: 단순 방향성 라벨은 금융 시계열의 잡음을 과도하게 포함할 위험이 있음. 변동성 기반 임계값을 적용한 이벤트 라벨링은 의미 있는 가격 변동이 발생한 시점만을 학습 대상으로 제한함. 이를 통해 설명 기법 간 중요도 랭킹 불일치가 단순한 시장 잡음이 아니라, 해당 시점 예측 판단 근거의 구조적 불안정성을 반영하는 신호인지 검증 가능함.</a:t>
            </a:r>
          </a:p>
          <a:p>
            <a:pPr algn="just">
              <a:lnSpc>
                <a:spcPts val="3300"/>
              </a:lnSpc>
            </a:pPr>
            <a:endParaRPr lang="en-US" sz="3000">
              <a:solidFill>
                <a:srgbClr val="0A3D62"/>
              </a:solidFill>
              <a:latin typeface="Noto Sans Kr"/>
              <a:ea typeface="Noto Sans Kr"/>
              <a:cs typeface="Noto Sans Kr"/>
              <a:sym typeface="Noto Sans Kr"/>
            </a:endParaRPr>
          </a:p>
          <a:p>
            <a:pPr algn="just">
              <a:lnSpc>
                <a:spcPts val="3300"/>
              </a:lnSpc>
            </a:pPr>
            <a:endParaRPr lang="en-US" sz="3000">
              <a:solidFill>
                <a:srgbClr val="0A3D62"/>
              </a:solidFill>
              <a:latin typeface="Noto Sans Kr"/>
              <a:ea typeface="Noto Sans Kr"/>
              <a:cs typeface="Noto Sans Kr"/>
              <a:sym typeface="Noto Sans Kr"/>
            </a:endParaRPr>
          </a:p>
          <a:p>
            <a:pPr algn="just">
              <a:lnSpc>
                <a:spcPts val="3300"/>
              </a:lnSpc>
            </a:pPr>
            <a:endParaRPr lang="en-US" sz="3000">
              <a:solidFill>
                <a:srgbClr val="0A3D62"/>
              </a:solidFill>
              <a:latin typeface="Noto Sans Kr"/>
              <a:ea typeface="Noto Sans Kr"/>
              <a:cs typeface="Noto Sans Kr"/>
              <a:sym typeface="Noto Sans Kr"/>
            </a:endParaRPr>
          </a:p>
          <a:p>
            <a:pPr algn="just">
              <a:lnSpc>
                <a:spcPts val="3300"/>
              </a:lnSpc>
              <a:spcBef>
                <a:spcPct val="0"/>
              </a:spcBef>
            </a:pPr>
            <a:endParaRPr lang="en-US" sz="3000">
              <a:solidFill>
                <a:srgbClr val="0A3D62"/>
              </a:solidFill>
              <a:latin typeface="Noto Sans Kr"/>
              <a:ea typeface="Noto Sans Kr"/>
              <a:cs typeface="Noto Sans Kr"/>
              <a:sym typeface="Noto Sans Kr"/>
            </a:endParaRPr>
          </a:p>
        </p:txBody>
      </p:sp>
      <p:sp>
        <p:nvSpPr>
          <p:cNvPr id="3" name="Freeform 3"/>
          <p:cNvSpPr/>
          <p:nvPr/>
        </p:nvSpPr>
        <p:spPr>
          <a:xfrm>
            <a:off x="1721691" y="2451448"/>
            <a:ext cx="12975896" cy="3568371"/>
          </a:xfrm>
          <a:custGeom>
            <a:avLst/>
            <a:gdLst/>
            <a:ahLst/>
            <a:cxnLst/>
            <a:rect l="l" t="t" r="r" b="b"/>
            <a:pathLst>
              <a:path w="12975896" h="3568371">
                <a:moveTo>
                  <a:pt x="0" y="0"/>
                </a:moveTo>
                <a:lnTo>
                  <a:pt x="12975896" y="0"/>
                </a:lnTo>
                <a:lnTo>
                  <a:pt x="12975896" y="3568372"/>
                </a:lnTo>
                <a:lnTo>
                  <a:pt x="0" y="3568372"/>
                </a:lnTo>
                <a:lnTo>
                  <a:pt x="0" y="0"/>
                </a:lnTo>
                <a:close/>
              </a:path>
            </a:pathLst>
          </a:custGeom>
          <a:blipFill>
            <a:blip r:embed="rId2"/>
            <a:stretch>
              <a:fillRect/>
            </a:stretch>
          </a:blipFill>
        </p:spPr>
        <p:txBody>
          <a:bodyPr/>
          <a:lstStyle/>
          <a:p>
            <a:endParaRPr lang="ko-KR" altLang="en-US"/>
          </a:p>
        </p:txBody>
      </p:sp>
      <p:sp>
        <p:nvSpPr>
          <p:cNvPr id="4" name="TextBox 4"/>
          <p:cNvSpPr txBox="1"/>
          <p:nvPr/>
        </p:nvSpPr>
        <p:spPr>
          <a:xfrm>
            <a:off x="8897503" y="9707753"/>
            <a:ext cx="492993" cy="447675"/>
          </a:xfrm>
          <a:prstGeom prst="rect">
            <a:avLst/>
          </a:prstGeom>
        </p:spPr>
        <p:txBody>
          <a:bodyPr lIns="0" tIns="0" rIns="0" bIns="0" rtlCol="0" anchor="t">
            <a:spAutoFit/>
          </a:bodyPr>
          <a:lstStyle/>
          <a:p>
            <a:pPr algn="ctr">
              <a:lnSpc>
                <a:spcPts val="3300"/>
              </a:lnSpc>
              <a:spcBef>
                <a:spcPct val="0"/>
              </a:spcBef>
            </a:pPr>
            <a:r>
              <a:rPr lang="en-US" sz="3000">
                <a:solidFill>
                  <a:srgbClr val="000000"/>
                </a:solidFill>
                <a:latin typeface="Georgia Pro Light"/>
                <a:ea typeface="Georgia Pro Light"/>
                <a:cs typeface="Georgia Pro Light"/>
                <a:sym typeface="Georgia Pro Light"/>
              </a:rPr>
              <a:t>-5-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
        <p:nvSpPr>
          <p:cNvPr id="2" name="Freeform 2"/>
          <p:cNvSpPr/>
          <p:nvPr/>
        </p:nvSpPr>
        <p:spPr>
          <a:xfrm>
            <a:off x="632705" y="1065771"/>
            <a:ext cx="8115300" cy="7455932"/>
          </a:xfrm>
          <a:custGeom>
            <a:avLst/>
            <a:gdLst/>
            <a:ahLst/>
            <a:cxnLst/>
            <a:rect l="l" t="t" r="r" b="b"/>
            <a:pathLst>
              <a:path w="8115300" h="7455932">
                <a:moveTo>
                  <a:pt x="0" y="0"/>
                </a:moveTo>
                <a:lnTo>
                  <a:pt x="8115300" y="0"/>
                </a:lnTo>
                <a:lnTo>
                  <a:pt x="8115300" y="7455931"/>
                </a:lnTo>
                <a:lnTo>
                  <a:pt x="0" y="7455931"/>
                </a:lnTo>
                <a:lnTo>
                  <a:pt x="0" y="0"/>
                </a:lnTo>
                <a:close/>
              </a:path>
            </a:pathLst>
          </a:custGeom>
          <a:blipFill>
            <a:blip r:embed="rId2"/>
            <a:stretch>
              <a:fillRect/>
            </a:stretch>
          </a:blipFill>
        </p:spPr>
        <p:txBody>
          <a:bodyPr/>
          <a:lstStyle/>
          <a:p>
            <a:endParaRPr lang="ko-KR" altLang="en-US"/>
          </a:p>
        </p:txBody>
      </p:sp>
      <p:sp>
        <p:nvSpPr>
          <p:cNvPr id="3" name="Freeform 3"/>
          <p:cNvSpPr/>
          <p:nvPr/>
        </p:nvSpPr>
        <p:spPr>
          <a:xfrm>
            <a:off x="632705" y="8719679"/>
            <a:ext cx="8115300" cy="978549"/>
          </a:xfrm>
          <a:custGeom>
            <a:avLst/>
            <a:gdLst/>
            <a:ahLst/>
            <a:cxnLst/>
            <a:rect l="l" t="t" r="r" b="b"/>
            <a:pathLst>
              <a:path w="8115300" h="978549">
                <a:moveTo>
                  <a:pt x="0" y="0"/>
                </a:moveTo>
                <a:lnTo>
                  <a:pt x="8115300" y="0"/>
                </a:lnTo>
                <a:lnTo>
                  <a:pt x="8115300" y="978549"/>
                </a:lnTo>
                <a:lnTo>
                  <a:pt x="0" y="978549"/>
                </a:lnTo>
                <a:lnTo>
                  <a:pt x="0" y="0"/>
                </a:lnTo>
                <a:close/>
              </a:path>
            </a:pathLst>
          </a:custGeom>
          <a:blipFill>
            <a:blip r:embed="rId3"/>
            <a:stretch>
              <a:fillRect r="-17639"/>
            </a:stretch>
          </a:blipFill>
        </p:spPr>
        <p:txBody>
          <a:bodyPr/>
          <a:lstStyle/>
          <a:p>
            <a:endParaRPr lang="ko-KR" altLang="en-US"/>
          </a:p>
        </p:txBody>
      </p:sp>
      <p:sp>
        <p:nvSpPr>
          <p:cNvPr id="4" name="Freeform 4"/>
          <p:cNvSpPr/>
          <p:nvPr/>
        </p:nvSpPr>
        <p:spPr>
          <a:xfrm>
            <a:off x="9144000" y="1065771"/>
            <a:ext cx="8776151" cy="1148196"/>
          </a:xfrm>
          <a:custGeom>
            <a:avLst/>
            <a:gdLst/>
            <a:ahLst/>
            <a:cxnLst/>
            <a:rect l="l" t="t" r="r" b="b"/>
            <a:pathLst>
              <a:path w="8776151" h="1148196">
                <a:moveTo>
                  <a:pt x="0" y="0"/>
                </a:moveTo>
                <a:lnTo>
                  <a:pt x="8776151" y="0"/>
                </a:lnTo>
                <a:lnTo>
                  <a:pt x="8776151" y="1148196"/>
                </a:lnTo>
                <a:lnTo>
                  <a:pt x="0" y="1148196"/>
                </a:lnTo>
                <a:lnTo>
                  <a:pt x="0" y="0"/>
                </a:lnTo>
                <a:close/>
              </a:path>
            </a:pathLst>
          </a:custGeom>
          <a:blipFill>
            <a:blip r:embed="rId4"/>
            <a:stretch>
              <a:fillRect r="-20304"/>
            </a:stretch>
          </a:blipFill>
        </p:spPr>
        <p:txBody>
          <a:bodyPr/>
          <a:lstStyle/>
          <a:p>
            <a:endParaRPr lang="ko-KR" altLang="en-US"/>
          </a:p>
        </p:txBody>
      </p:sp>
      <p:sp>
        <p:nvSpPr>
          <p:cNvPr id="5" name="Freeform 5"/>
          <p:cNvSpPr/>
          <p:nvPr/>
        </p:nvSpPr>
        <p:spPr>
          <a:xfrm>
            <a:off x="8897503" y="3429402"/>
            <a:ext cx="8361797" cy="6250443"/>
          </a:xfrm>
          <a:custGeom>
            <a:avLst/>
            <a:gdLst/>
            <a:ahLst/>
            <a:cxnLst/>
            <a:rect l="l" t="t" r="r" b="b"/>
            <a:pathLst>
              <a:path w="8361797" h="6250443">
                <a:moveTo>
                  <a:pt x="0" y="0"/>
                </a:moveTo>
                <a:lnTo>
                  <a:pt x="8361797" y="0"/>
                </a:lnTo>
                <a:lnTo>
                  <a:pt x="8361797" y="6250443"/>
                </a:lnTo>
                <a:lnTo>
                  <a:pt x="0" y="6250443"/>
                </a:lnTo>
                <a:lnTo>
                  <a:pt x="0" y="0"/>
                </a:lnTo>
                <a:close/>
              </a:path>
            </a:pathLst>
          </a:custGeom>
          <a:blipFill>
            <a:blip r:embed="rId5"/>
            <a:stretch>
              <a:fillRect/>
            </a:stretch>
          </a:blipFill>
        </p:spPr>
        <p:txBody>
          <a:bodyPr/>
          <a:lstStyle/>
          <a:p>
            <a:endParaRPr lang="ko-KR" altLang="en-US"/>
          </a:p>
        </p:txBody>
      </p:sp>
      <p:sp>
        <p:nvSpPr>
          <p:cNvPr id="6" name="TextBox 6"/>
          <p:cNvSpPr txBox="1"/>
          <p:nvPr/>
        </p:nvSpPr>
        <p:spPr>
          <a:xfrm>
            <a:off x="632705" y="590550"/>
            <a:ext cx="4720645" cy="438150"/>
          </a:xfrm>
          <a:prstGeom prst="rect">
            <a:avLst/>
          </a:prstGeom>
        </p:spPr>
        <p:txBody>
          <a:bodyPr lIns="0" tIns="0" rIns="0" bIns="0" rtlCol="0" anchor="t">
            <a:spAutoFit/>
          </a:bodyPr>
          <a:lstStyle/>
          <a:p>
            <a:pPr algn="just">
              <a:lnSpc>
                <a:spcPts val="3300"/>
              </a:lnSpc>
              <a:spcBef>
                <a:spcPct val="0"/>
              </a:spcBef>
            </a:pPr>
            <a:r>
              <a:rPr lang="en-US" sz="3000" b="1">
                <a:solidFill>
                  <a:srgbClr val="0A3D62"/>
                </a:solidFill>
                <a:latin typeface="Noto Sans Kr Bold"/>
                <a:ea typeface="Noto Sans Kr Bold"/>
                <a:cs typeface="Noto Sans Kr Bold"/>
                <a:sym typeface="Noto Sans Kr Bold"/>
              </a:rPr>
              <a:t>Dataset After Labeling</a:t>
            </a:r>
          </a:p>
        </p:txBody>
      </p:sp>
      <p:sp>
        <p:nvSpPr>
          <p:cNvPr id="7" name="TextBox 7"/>
          <p:cNvSpPr txBox="1"/>
          <p:nvPr/>
        </p:nvSpPr>
        <p:spPr>
          <a:xfrm>
            <a:off x="8897503" y="9707753"/>
            <a:ext cx="492993" cy="447675"/>
          </a:xfrm>
          <a:prstGeom prst="rect">
            <a:avLst/>
          </a:prstGeom>
        </p:spPr>
        <p:txBody>
          <a:bodyPr lIns="0" tIns="0" rIns="0" bIns="0" rtlCol="0" anchor="t">
            <a:spAutoFit/>
          </a:bodyPr>
          <a:lstStyle/>
          <a:p>
            <a:pPr algn="ctr">
              <a:lnSpc>
                <a:spcPts val="3300"/>
              </a:lnSpc>
              <a:spcBef>
                <a:spcPct val="0"/>
              </a:spcBef>
            </a:pPr>
            <a:r>
              <a:rPr lang="en-US" sz="3000">
                <a:solidFill>
                  <a:srgbClr val="000000"/>
                </a:solidFill>
                <a:latin typeface="Georgia Pro Light"/>
                <a:ea typeface="Georgia Pro Light"/>
                <a:cs typeface="Georgia Pro Light"/>
                <a:sym typeface="Georgia Pro Light"/>
              </a:rPr>
              <a:t>-6-</a:t>
            </a:r>
          </a:p>
        </p:txBody>
      </p:sp>
      <p:sp>
        <p:nvSpPr>
          <p:cNvPr id="8" name="TextBox 8"/>
          <p:cNvSpPr txBox="1"/>
          <p:nvPr/>
        </p:nvSpPr>
        <p:spPr>
          <a:xfrm>
            <a:off x="9144000" y="590550"/>
            <a:ext cx="4720645" cy="438150"/>
          </a:xfrm>
          <a:prstGeom prst="rect">
            <a:avLst/>
          </a:prstGeom>
        </p:spPr>
        <p:txBody>
          <a:bodyPr lIns="0" tIns="0" rIns="0" bIns="0" rtlCol="0" anchor="t">
            <a:spAutoFit/>
          </a:bodyPr>
          <a:lstStyle/>
          <a:p>
            <a:pPr algn="just">
              <a:lnSpc>
                <a:spcPts val="3300"/>
              </a:lnSpc>
              <a:spcBef>
                <a:spcPct val="0"/>
              </a:spcBef>
            </a:pPr>
            <a:r>
              <a:rPr lang="en-US" sz="3000" b="1">
                <a:solidFill>
                  <a:srgbClr val="0A3D62"/>
                </a:solidFill>
                <a:latin typeface="Noto Sans Kr Bold"/>
                <a:ea typeface="Noto Sans Kr Bold"/>
                <a:cs typeface="Noto Sans Kr Bold"/>
                <a:sym typeface="Noto Sans Kr Bold"/>
              </a:rPr>
              <a:t>Train / Valid Set Split</a:t>
            </a:r>
          </a:p>
        </p:txBody>
      </p:sp>
      <p:sp>
        <p:nvSpPr>
          <p:cNvPr id="9" name="TextBox 9"/>
          <p:cNvSpPr txBox="1"/>
          <p:nvPr/>
        </p:nvSpPr>
        <p:spPr>
          <a:xfrm>
            <a:off x="9183303" y="2553769"/>
            <a:ext cx="9362684" cy="857250"/>
          </a:xfrm>
          <a:prstGeom prst="rect">
            <a:avLst/>
          </a:prstGeom>
        </p:spPr>
        <p:txBody>
          <a:bodyPr lIns="0" tIns="0" rIns="0" bIns="0" rtlCol="0" anchor="t">
            <a:spAutoFit/>
          </a:bodyPr>
          <a:lstStyle/>
          <a:p>
            <a:pPr algn="l">
              <a:lnSpc>
                <a:spcPts val="3300"/>
              </a:lnSpc>
              <a:spcBef>
                <a:spcPct val="0"/>
              </a:spcBef>
            </a:pPr>
            <a:r>
              <a:rPr lang="en-US" sz="3000" b="1">
                <a:solidFill>
                  <a:srgbClr val="0A3D62"/>
                </a:solidFill>
                <a:latin typeface="Noto Sans Kr Bold"/>
                <a:ea typeface="Noto Sans Kr Bold"/>
                <a:cs typeface="Noto Sans Kr Bold"/>
                <a:sym typeface="Noto Sans Kr Bold"/>
              </a:rPr>
              <a:t>매수/매도 판단을 위한 Threshold 탐색 (Balanced Accuracy)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
        <p:nvSpPr>
          <p:cNvPr id="2" name="Freeform 2"/>
          <p:cNvSpPr/>
          <p:nvPr/>
        </p:nvSpPr>
        <p:spPr>
          <a:xfrm>
            <a:off x="666750" y="3241222"/>
            <a:ext cx="7977187" cy="6457006"/>
          </a:xfrm>
          <a:custGeom>
            <a:avLst/>
            <a:gdLst/>
            <a:ahLst/>
            <a:cxnLst/>
            <a:rect l="l" t="t" r="r" b="b"/>
            <a:pathLst>
              <a:path w="7977187" h="6457006">
                <a:moveTo>
                  <a:pt x="0" y="0"/>
                </a:moveTo>
                <a:lnTo>
                  <a:pt x="7977187" y="0"/>
                </a:lnTo>
                <a:lnTo>
                  <a:pt x="7977187" y="6457006"/>
                </a:lnTo>
                <a:lnTo>
                  <a:pt x="0" y="6457006"/>
                </a:lnTo>
                <a:lnTo>
                  <a:pt x="0" y="0"/>
                </a:lnTo>
                <a:close/>
              </a:path>
            </a:pathLst>
          </a:custGeom>
          <a:blipFill>
            <a:blip r:embed="rId2"/>
            <a:stretch>
              <a:fillRect/>
            </a:stretch>
          </a:blipFill>
        </p:spPr>
        <p:txBody>
          <a:bodyPr/>
          <a:lstStyle/>
          <a:p>
            <a:endParaRPr lang="ko-KR" altLang="en-US"/>
          </a:p>
        </p:txBody>
      </p:sp>
      <p:grpSp>
        <p:nvGrpSpPr>
          <p:cNvPr id="3" name="Group 3"/>
          <p:cNvGrpSpPr/>
          <p:nvPr/>
        </p:nvGrpSpPr>
        <p:grpSpPr>
          <a:xfrm>
            <a:off x="666750" y="666750"/>
            <a:ext cx="14106374" cy="5119951"/>
            <a:chOff x="0" y="0"/>
            <a:chExt cx="18808499" cy="6826601"/>
          </a:xfrm>
        </p:grpSpPr>
        <p:sp>
          <p:nvSpPr>
            <p:cNvPr id="4" name="TextBox 4"/>
            <p:cNvSpPr txBox="1"/>
            <p:nvPr/>
          </p:nvSpPr>
          <p:spPr>
            <a:xfrm>
              <a:off x="0" y="76200"/>
              <a:ext cx="11099800" cy="1545171"/>
            </a:xfrm>
            <a:prstGeom prst="rect">
              <a:avLst/>
            </a:prstGeom>
          </p:spPr>
          <p:txBody>
            <a:bodyPr lIns="0" tIns="0" rIns="0" bIns="0" rtlCol="0" anchor="t">
              <a:spAutoFit/>
            </a:bodyPr>
            <a:lstStyle/>
            <a:p>
              <a:pPr marL="0" lvl="0" indent="0" algn="l">
                <a:lnSpc>
                  <a:spcPts val="8800"/>
                </a:lnSpc>
              </a:pPr>
              <a:r>
                <a:rPr lang="en-US" sz="8000" b="1">
                  <a:solidFill>
                    <a:srgbClr val="0A3D62"/>
                  </a:solidFill>
                  <a:latin typeface="Noto Sans Kr Bold"/>
                  <a:ea typeface="Noto Sans Kr Bold"/>
                  <a:cs typeface="Noto Sans Kr Bold"/>
                  <a:sym typeface="Noto Sans Kr Bold"/>
                </a:rPr>
                <a:t>학습 결과 및 분석</a:t>
              </a:r>
            </a:p>
          </p:txBody>
        </p:sp>
        <p:sp>
          <p:nvSpPr>
            <p:cNvPr id="5" name="TextBox 5"/>
            <p:cNvSpPr txBox="1"/>
            <p:nvPr/>
          </p:nvSpPr>
          <p:spPr>
            <a:xfrm>
              <a:off x="0" y="2047803"/>
              <a:ext cx="18808499" cy="4778798"/>
            </a:xfrm>
            <a:prstGeom prst="rect">
              <a:avLst/>
            </a:prstGeom>
          </p:spPr>
          <p:txBody>
            <a:bodyPr lIns="0" tIns="0" rIns="0" bIns="0" rtlCol="0" anchor="t">
              <a:spAutoFit/>
            </a:bodyPr>
            <a:lstStyle/>
            <a:p>
              <a:pPr algn="l">
                <a:lnSpc>
                  <a:spcPts val="2800"/>
                </a:lnSpc>
              </a:pPr>
              <a:r>
                <a:rPr lang="en-US" sz="2000">
                  <a:solidFill>
                    <a:srgbClr val="0A3D62"/>
                  </a:solidFill>
                  <a:latin typeface="DM Sans"/>
                  <a:ea typeface="DM Sans"/>
                  <a:cs typeface="DM Sans"/>
                  <a:sym typeface="DM Sans"/>
                </a:rPr>
                <a:t>*LightGBM (Binary Classification), 멀티 자산 패널 데이터 (Panel Data)</a:t>
              </a:r>
            </a:p>
            <a:p>
              <a:pPr algn="l">
                <a:lnSpc>
                  <a:spcPts val="4200"/>
                </a:lnSpc>
              </a:pPr>
              <a:r>
                <a:rPr lang="en-US" sz="3000" b="1">
                  <a:solidFill>
                    <a:srgbClr val="0A3D62"/>
                  </a:solidFill>
                  <a:latin typeface="DM Sans Bold"/>
                  <a:ea typeface="DM Sans Bold"/>
                  <a:cs typeface="DM Sans Bold"/>
                  <a:sym typeface="DM Sans Bold"/>
                </a:rPr>
                <a:t>결과 </a:t>
              </a:r>
            </a:p>
            <a:p>
              <a:pPr algn="l">
                <a:lnSpc>
                  <a:spcPts val="4200"/>
                </a:lnSpc>
              </a:pPr>
              <a:endParaRPr lang="en-US" sz="3000" b="1">
                <a:solidFill>
                  <a:srgbClr val="0A3D62"/>
                </a:solidFill>
                <a:latin typeface="DM Sans Bold"/>
                <a:ea typeface="DM Sans Bold"/>
                <a:cs typeface="DM Sans Bold"/>
                <a:sym typeface="DM Sans Bold"/>
              </a:endParaRPr>
            </a:p>
            <a:p>
              <a:pPr algn="l">
                <a:lnSpc>
                  <a:spcPts val="4200"/>
                </a:lnSpc>
              </a:pPr>
              <a:endParaRPr lang="en-US" sz="3000" b="1">
                <a:solidFill>
                  <a:srgbClr val="0A3D62"/>
                </a:solidFill>
                <a:latin typeface="DM Sans Bold"/>
                <a:ea typeface="DM Sans Bold"/>
                <a:cs typeface="DM Sans Bold"/>
                <a:sym typeface="DM Sans Bold"/>
              </a:endParaRPr>
            </a:p>
            <a:p>
              <a:pPr algn="l">
                <a:lnSpc>
                  <a:spcPts val="4200"/>
                </a:lnSpc>
              </a:pPr>
              <a:endParaRPr lang="en-US" sz="3000" b="1">
                <a:solidFill>
                  <a:srgbClr val="0A3D62"/>
                </a:solidFill>
                <a:latin typeface="DM Sans Bold"/>
                <a:ea typeface="DM Sans Bold"/>
                <a:cs typeface="DM Sans Bold"/>
                <a:sym typeface="DM Sans Bold"/>
              </a:endParaRPr>
            </a:p>
            <a:p>
              <a:pPr algn="l">
                <a:lnSpc>
                  <a:spcPts val="2940"/>
                </a:lnSpc>
              </a:pPr>
              <a:endParaRPr lang="en-US" sz="3000" b="1">
                <a:solidFill>
                  <a:srgbClr val="0A3D62"/>
                </a:solidFill>
                <a:latin typeface="DM Sans Bold"/>
                <a:ea typeface="DM Sans Bold"/>
                <a:cs typeface="DM Sans Bold"/>
                <a:sym typeface="DM Sans Bold"/>
              </a:endParaRPr>
            </a:p>
            <a:p>
              <a:pPr algn="l">
                <a:lnSpc>
                  <a:spcPts val="2940"/>
                </a:lnSpc>
              </a:pPr>
              <a:endParaRPr lang="en-US" sz="3000" b="1">
                <a:solidFill>
                  <a:srgbClr val="0A3D62"/>
                </a:solidFill>
                <a:latin typeface="DM Sans Bold"/>
                <a:ea typeface="DM Sans Bold"/>
                <a:cs typeface="DM Sans Bold"/>
                <a:sym typeface="DM Sans Bold"/>
              </a:endParaRPr>
            </a:p>
            <a:p>
              <a:pPr algn="l">
                <a:lnSpc>
                  <a:spcPts val="2940"/>
                </a:lnSpc>
              </a:pPr>
              <a:endParaRPr lang="en-US" sz="3000" b="1">
                <a:solidFill>
                  <a:srgbClr val="0A3D62"/>
                </a:solidFill>
                <a:latin typeface="DM Sans Bold"/>
                <a:ea typeface="DM Sans Bold"/>
                <a:cs typeface="DM Sans Bold"/>
                <a:sym typeface="DM Sans Bold"/>
              </a:endParaRPr>
            </a:p>
          </p:txBody>
        </p:sp>
      </p:grpSp>
      <p:sp>
        <p:nvSpPr>
          <p:cNvPr id="6" name="TextBox 6"/>
          <p:cNvSpPr txBox="1"/>
          <p:nvPr/>
        </p:nvSpPr>
        <p:spPr>
          <a:xfrm>
            <a:off x="8897503" y="9707753"/>
            <a:ext cx="492993" cy="447675"/>
          </a:xfrm>
          <a:prstGeom prst="rect">
            <a:avLst/>
          </a:prstGeom>
        </p:spPr>
        <p:txBody>
          <a:bodyPr lIns="0" tIns="0" rIns="0" bIns="0" rtlCol="0" anchor="t">
            <a:spAutoFit/>
          </a:bodyPr>
          <a:lstStyle/>
          <a:p>
            <a:pPr algn="ctr">
              <a:lnSpc>
                <a:spcPts val="3300"/>
              </a:lnSpc>
              <a:spcBef>
                <a:spcPct val="0"/>
              </a:spcBef>
            </a:pPr>
            <a:r>
              <a:rPr lang="en-US" sz="3000">
                <a:solidFill>
                  <a:srgbClr val="000000"/>
                </a:solidFill>
                <a:latin typeface="Georgia Pro Light"/>
                <a:ea typeface="Georgia Pro Light"/>
                <a:cs typeface="Georgia Pro Light"/>
                <a:sym typeface="Georgia Pro Light"/>
              </a:rPr>
              <a:t>-7-</a:t>
            </a:r>
          </a:p>
        </p:txBody>
      </p:sp>
      <p:sp>
        <p:nvSpPr>
          <p:cNvPr id="7" name="TextBox 7"/>
          <p:cNvSpPr txBox="1"/>
          <p:nvPr/>
        </p:nvSpPr>
        <p:spPr>
          <a:xfrm>
            <a:off x="9144000" y="2450858"/>
            <a:ext cx="8562791" cy="7675784"/>
          </a:xfrm>
          <a:prstGeom prst="rect">
            <a:avLst/>
          </a:prstGeom>
        </p:spPr>
        <p:txBody>
          <a:bodyPr lIns="0" tIns="0" rIns="0" bIns="0" rtlCol="0" anchor="t">
            <a:spAutoFit/>
          </a:bodyPr>
          <a:lstStyle/>
          <a:p>
            <a:pPr algn="l">
              <a:lnSpc>
                <a:spcPts val="3408"/>
              </a:lnSpc>
            </a:pPr>
            <a:r>
              <a:rPr lang="en-US" sz="3099" b="1">
                <a:solidFill>
                  <a:srgbClr val="0A3D62"/>
                </a:solidFill>
                <a:latin typeface="Noto Sans Kr Bold"/>
                <a:ea typeface="Noto Sans Kr Bold"/>
                <a:cs typeface="Noto Sans Kr Bold"/>
                <a:sym typeface="Noto Sans Kr Bold"/>
              </a:rPr>
              <a:t>결과분석</a:t>
            </a:r>
          </a:p>
          <a:p>
            <a:pPr algn="l">
              <a:lnSpc>
                <a:spcPts val="2749"/>
              </a:lnSpc>
              <a:spcBef>
                <a:spcPct val="0"/>
              </a:spcBef>
            </a:pPr>
            <a:r>
              <a:rPr lang="en-US" sz="2499">
                <a:solidFill>
                  <a:srgbClr val="0A3D62"/>
                </a:solidFill>
                <a:latin typeface="Noto Sans Kr"/>
                <a:ea typeface="Noto Sans Kr"/>
                <a:cs typeface="Noto Sans Kr"/>
                <a:sym typeface="Noto Sans Kr"/>
              </a:rPr>
              <a:t>Balanced Accuracy 기준으로 임계값을 튜닝한 결과, 클래스 불균형을 고려한 것보다 보수적인 결정 경계가 형성되었으며, 혼동행렬 상 False Positive가 크게 감소하는 등 거래 리스크 관점에서 보다 적합한 베이스라인 모델이 도출되었음. 즉, 단순 정확도나 고정 임계값 기반 모델 대비, 본 연구 목적에 부합하는 분류 구조가 확보되었음.</a:t>
            </a:r>
          </a:p>
          <a:p>
            <a:pPr algn="l">
              <a:lnSpc>
                <a:spcPts val="2749"/>
              </a:lnSpc>
              <a:spcBef>
                <a:spcPct val="0"/>
              </a:spcBef>
            </a:pPr>
            <a:endParaRPr lang="en-US" sz="2499">
              <a:solidFill>
                <a:srgbClr val="0A3D62"/>
              </a:solidFill>
              <a:latin typeface="Noto Sans Kr"/>
              <a:ea typeface="Noto Sans Kr"/>
              <a:cs typeface="Noto Sans Kr"/>
              <a:sym typeface="Noto Sans Kr"/>
            </a:endParaRPr>
          </a:p>
          <a:p>
            <a:pPr algn="l">
              <a:lnSpc>
                <a:spcPts val="2749"/>
              </a:lnSpc>
              <a:spcBef>
                <a:spcPct val="0"/>
              </a:spcBef>
            </a:pPr>
            <a:r>
              <a:rPr lang="en-US" sz="2499">
                <a:solidFill>
                  <a:srgbClr val="0A3D62"/>
                </a:solidFill>
                <a:latin typeface="Noto Sans Kr"/>
                <a:ea typeface="Noto Sans Kr"/>
                <a:cs typeface="Noto Sans Kr"/>
                <a:sym typeface="Noto Sans Kr"/>
              </a:rPr>
              <a:t>그럼에도 불구하고 검증셋 기준 AUC는 여전히 약 0.5 수준에 머물러, 모델의 예측 확률 자체는 다음 시점 방향성을 안정적으로 구분하지 못함이 확인되었음. 이는 임계값 조정을 통해 의사결정 구조는 개선될 수 있으나, 예측 확률만으로 개별 신호의 신뢰도를 판단하기에는 본질적인 한계가 있음을 시사함.</a:t>
            </a:r>
          </a:p>
          <a:p>
            <a:pPr algn="l">
              <a:lnSpc>
                <a:spcPts val="2749"/>
              </a:lnSpc>
              <a:spcBef>
                <a:spcPct val="0"/>
              </a:spcBef>
            </a:pPr>
            <a:endParaRPr lang="en-US" sz="2499">
              <a:solidFill>
                <a:srgbClr val="0A3D62"/>
              </a:solidFill>
              <a:latin typeface="Noto Sans Kr"/>
              <a:ea typeface="Noto Sans Kr"/>
              <a:cs typeface="Noto Sans Kr"/>
              <a:sym typeface="Noto Sans Kr"/>
            </a:endParaRPr>
          </a:p>
          <a:p>
            <a:pPr algn="l">
              <a:lnSpc>
                <a:spcPts val="2749"/>
              </a:lnSpc>
              <a:spcBef>
                <a:spcPct val="0"/>
              </a:spcBef>
            </a:pPr>
            <a:r>
              <a:rPr lang="en-US" sz="2499">
                <a:solidFill>
                  <a:srgbClr val="0A3D62"/>
                </a:solidFill>
                <a:latin typeface="Noto Sans Kr"/>
                <a:ea typeface="Noto Sans Kr"/>
                <a:cs typeface="Noto Sans Kr"/>
                <a:sym typeface="Noto Sans Kr"/>
              </a:rPr>
              <a:t>따라서 이후 분석에서는 예측 성능과 분리된 관점에서, 시장 변동성 확대 국면에서 모델의 판단 근거가 시점별로 불안정해질 수 있으며 이러한 불안정성이 서로 다른 설명 기법 간 중요도 랭킹 불일치로 관측된다는 점에 주목함. 이에 따라 특정 시점의 예측 확률이 아니라, 해당 시점의 예측 판단이 구조적으로 일관되고 신뢰 가능한 상태였는지를 평가하기 위한 설명 합의 기반 신뢰도 지표(C-index)의 필요성이 제기됨.</a:t>
            </a:r>
          </a:p>
          <a:p>
            <a:pPr algn="l">
              <a:lnSpc>
                <a:spcPts val="2954"/>
              </a:lnSpc>
              <a:spcBef>
                <a:spcPct val="0"/>
              </a:spcBef>
            </a:pPr>
            <a:endParaRPr lang="en-US" sz="2499">
              <a:solidFill>
                <a:srgbClr val="0A3D62"/>
              </a:solidFill>
              <a:latin typeface="Noto Sans Kr"/>
              <a:ea typeface="Noto Sans Kr"/>
              <a:cs typeface="Noto Sans Kr"/>
              <a:sym typeface="Noto Sans K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grpSp>
        <p:nvGrpSpPr>
          <p:cNvPr id="2" name="Group 2"/>
          <p:cNvGrpSpPr/>
          <p:nvPr/>
        </p:nvGrpSpPr>
        <p:grpSpPr>
          <a:xfrm>
            <a:off x="349954" y="508352"/>
            <a:ext cx="14621168" cy="4102046"/>
            <a:chOff x="0" y="0"/>
            <a:chExt cx="19494890" cy="5469394"/>
          </a:xfrm>
        </p:grpSpPr>
        <p:sp>
          <p:nvSpPr>
            <p:cNvPr id="3" name="TextBox 3"/>
            <p:cNvSpPr txBox="1"/>
            <p:nvPr/>
          </p:nvSpPr>
          <p:spPr>
            <a:xfrm>
              <a:off x="0" y="76200"/>
              <a:ext cx="19494890" cy="1545171"/>
            </a:xfrm>
            <a:prstGeom prst="rect">
              <a:avLst/>
            </a:prstGeom>
          </p:spPr>
          <p:txBody>
            <a:bodyPr lIns="0" tIns="0" rIns="0" bIns="0" rtlCol="0" anchor="t">
              <a:spAutoFit/>
            </a:bodyPr>
            <a:lstStyle/>
            <a:p>
              <a:pPr marL="0" lvl="0" indent="0" algn="l">
                <a:lnSpc>
                  <a:spcPts val="8800"/>
                </a:lnSpc>
              </a:pPr>
              <a:r>
                <a:rPr lang="en-US" sz="8000" b="1">
                  <a:solidFill>
                    <a:srgbClr val="0A3D62"/>
                  </a:solidFill>
                  <a:latin typeface="Noto Sans Kr Bold"/>
                  <a:ea typeface="Noto Sans Kr Bold"/>
                  <a:cs typeface="Noto Sans Kr Bold"/>
                  <a:sym typeface="Noto Sans Kr Bold"/>
                </a:rPr>
                <a:t>설명 추출: C-index의 입력 데이터</a:t>
              </a:r>
            </a:p>
          </p:txBody>
        </p:sp>
        <p:sp>
          <p:nvSpPr>
            <p:cNvPr id="4" name="TextBox 4"/>
            <p:cNvSpPr txBox="1"/>
            <p:nvPr/>
          </p:nvSpPr>
          <p:spPr>
            <a:xfrm>
              <a:off x="0" y="5019603"/>
              <a:ext cx="18808499" cy="449792"/>
            </a:xfrm>
            <a:prstGeom prst="rect">
              <a:avLst/>
            </a:prstGeom>
          </p:spPr>
          <p:txBody>
            <a:bodyPr lIns="0" tIns="0" rIns="0" bIns="0" rtlCol="0" anchor="t">
              <a:spAutoFit/>
            </a:bodyPr>
            <a:lstStyle/>
            <a:p>
              <a:pPr algn="l">
                <a:lnSpc>
                  <a:spcPts val="2800"/>
                </a:lnSpc>
              </a:pPr>
              <a:endParaRPr/>
            </a:p>
          </p:txBody>
        </p:sp>
      </p:grpSp>
      <p:sp>
        <p:nvSpPr>
          <p:cNvPr id="5" name="TextBox 5"/>
          <p:cNvSpPr txBox="1"/>
          <p:nvPr/>
        </p:nvSpPr>
        <p:spPr>
          <a:xfrm>
            <a:off x="8897503" y="9707753"/>
            <a:ext cx="492993" cy="447675"/>
          </a:xfrm>
          <a:prstGeom prst="rect">
            <a:avLst/>
          </a:prstGeom>
        </p:spPr>
        <p:txBody>
          <a:bodyPr lIns="0" tIns="0" rIns="0" bIns="0" rtlCol="0" anchor="t">
            <a:spAutoFit/>
          </a:bodyPr>
          <a:lstStyle/>
          <a:p>
            <a:pPr algn="ctr">
              <a:lnSpc>
                <a:spcPts val="3300"/>
              </a:lnSpc>
              <a:spcBef>
                <a:spcPct val="0"/>
              </a:spcBef>
            </a:pPr>
            <a:r>
              <a:rPr lang="en-US" sz="3000">
                <a:solidFill>
                  <a:srgbClr val="000000"/>
                </a:solidFill>
                <a:latin typeface="Georgia Pro Light"/>
                <a:ea typeface="Georgia Pro Light"/>
                <a:cs typeface="Georgia Pro Light"/>
                <a:sym typeface="Georgia Pro Light"/>
              </a:rPr>
              <a:t>-8-</a:t>
            </a:r>
          </a:p>
        </p:txBody>
      </p:sp>
      <p:sp>
        <p:nvSpPr>
          <p:cNvPr id="6" name="TextBox 6"/>
          <p:cNvSpPr txBox="1"/>
          <p:nvPr/>
        </p:nvSpPr>
        <p:spPr>
          <a:xfrm>
            <a:off x="514793" y="1480693"/>
            <a:ext cx="15287918" cy="8674735"/>
          </a:xfrm>
          <a:prstGeom prst="rect">
            <a:avLst/>
          </a:prstGeom>
        </p:spPr>
        <p:txBody>
          <a:bodyPr lIns="0" tIns="0" rIns="0" bIns="0" rtlCol="0" anchor="t">
            <a:spAutoFit/>
          </a:bodyPr>
          <a:lstStyle/>
          <a:p>
            <a:pPr algn="l">
              <a:lnSpc>
                <a:spcPts val="3300"/>
              </a:lnSpc>
            </a:pPr>
            <a:endParaRPr/>
          </a:p>
          <a:p>
            <a:pPr algn="l">
              <a:lnSpc>
                <a:spcPts val="3300"/>
              </a:lnSpc>
            </a:pPr>
            <a:r>
              <a:rPr lang="en-US" sz="3000" b="1">
                <a:solidFill>
                  <a:srgbClr val="0A3D62"/>
                </a:solidFill>
                <a:latin typeface="Noto Sans Kr Bold"/>
                <a:ea typeface="Noto Sans Kr Bold"/>
                <a:cs typeface="Noto Sans Kr Bold"/>
                <a:sym typeface="Noto Sans Kr Bold"/>
              </a:rPr>
              <a:t>목적</a:t>
            </a:r>
          </a:p>
          <a:p>
            <a:pPr algn="l">
              <a:lnSpc>
                <a:spcPts val="2860"/>
              </a:lnSpc>
            </a:pPr>
            <a:r>
              <a:rPr lang="en-US" sz="2600">
                <a:solidFill>
                  <a:srgbClr val="0A3D62"/>
                </a:solidFill>
                <a:latin typeface="Noto Sans Kr"/>
                <a:ea typeface="Noto Sans Kr"/>
                <a:cs typeface="Noto Sans Kr"/>
                <a:sym typeface="Noto Sans Kr"/>
              </a:rPr>
              <a:t>본 연구의 설명 추출 목적은 개별 예측에 대한 설명 정확성 검증이 아니라, C-index 산출에 사용되는 입력 데이터를 구성하는 데 있음. 즉, 동일 시점에서 서로 다른 설명 기준이 산출하는 중요도 랭킹을 수집하고, 이들 간 합의 수준을 정량화하기 위한 기반 정보를 생성하는 것이 핵심 목적임. 또한 C-index는 실제 거래 필터링에 활용되는 신뢰도 지표이므로, 설명 정보는 Train set이 아닌 Test set을 중심으로 산출함.</a:t>
            </a:r>
          </a:p>
          <a:p>
            <a:pPr algn="l">
              <a:lnSpc>
                <a:spcPts val="2860"/>
              </a:lnSpc>
            </a:pPr>
            <a:endParaRPr lang="en-US" sz="2600">
              <a:solidFill>
                <a:srgbClr val="0A3D62"/>
              </a:solidFill>
              <a:latin typeface="Noto Sans Kr"/>
              <a:ea typeface="Noto Sans Kr"/>
              <a:cs typeface="Noto Sans Kr"/>
              <a:sym typeface="Noto Sans Kr"/>
            </a:endParaRPr>
          </a:p>
          <a:p>
            <a:pPr algn="l">
              <a:lnSpc>
                <a:spcPts val="3300"/>
              </a:lnSpc>
            </a:pPr>
            <a:r>
              <a:rPr lang="en-US" sz="3000" b="1">
                <a:solidFill>
                  <a:srgbClr val="0A3D62"/>
                </a:solidFill>
                <a:latin typeface="Noto Sans Kr Bold"/>
                <a:ea typeface="Noto Sans Kr Bold"/>
                <a:cs typeface="Noto Sans Kr Bold"/>
                <a:sym typeface="Noto Sans Kr Bold"/>
              </a:rPr>
              <a:t>설명 기법 선택</a:t>
            </a:r>
          </a:p>
          <a:p>
            <a:pPr algn="l">
              <a:lnSpc>
                <a:spcPts val="2860"/>
              </a:lnSpc>
            </a:pPr>
            <a:r>
              <a:rPr lang="en-US" sz="2600">
                <a:solidFill>
                  <a:srgbClr val="0A3D62"/>
                </a:solidFill>
                <a:latin typeface="Noto Sans Kr"/>
                <a:ea typeface="Noto Sans Kr"/>
                <a:cs typeface="Noto Sans Kr"/>
                <a:sym typeface="Noto Sans Kr"/>
              </a:rPr>
              <a:t>본 연구는 서로 다른 설명 관점을 갖는 복수의 XAI 기법 간 불일치 자체를 신뢰도 신호로 활용함. 이를 위해 Permutation Importance와 SHAP(TreeExplainer)를 사용함. </a:t>
            </a:r>
          </a:p>
          <a:p>
            <a:pPr algn="l">
              <a:lnSpc>
                <a:spcPts val="2860"/>
              </a:lnSpc>
            </a:pPr>
            <a:endParaRPr lang="en-US" sz="2600">
              <a:solidFill>
                <a:srgbClr val="0A3D62"/>
              </a:solidFill>
              <a:latin typeface="Noto Sans Kr"/>
              <a:ea typeface="Noto Sans Kr"/>
              <a:cs typeface="Noto Sans Kr"/>
              <a:sym typeface="Noto Sans Kr"/>
            </a:endParaRPr>
          </a:p>
          <a:p>
            <a:pPr algn="l">
              <a:lnSpc>
                <a:spcPts val="2200"/>
              </a:lnSpc>
            </a:pPr>
            <a:r>
              <a:rPr lang="en-US" sz="2000" u="sng">
                <a:solidFill>
                  <a:srgbClr val="0A3D62"/>
                </a:solidFill>
                <a:latin typeface="Noto Sans Kr"/>
                <a:ea typeface="Noto Sans Kr"/>
                <a:cs typeface="Noto Sans Kr"/>
                <a:sym typeface="Noto Sans Kr"/>
              </a:rPr>
              <a:t>*LIME, Integrated Gradients 등은 시계열 환경에서의 불안정성과 높은 계산 비용 문제로 1차 실험에서는 제외됨</a:t>
            </a:r>
          </a:p>
          <a:p>
            <a:pPr algn="l">
              <a:lnSpc>
                <a:spcPts val="2860"/>
              </a:lnSpc>
            </a:pPr>
            <a:endParaRPr lang="en-US" sz="2000" u="sng">
              <a:solidFill>
                <a:srgbClr val="0A3D62"/>
              </a:solidFill>
              <a:latin typeface="Noto Sans Kr"/>
              <a:ea typeface="Noto Sans Kr"/>
              <a:cs typeface="Noto Sans Kr"/>
              <a:sym typeface="Noto Sans Kr"/>
            </a:endParaRPr>
          </a:p>
          <a:p>
            <a:pPr algn="l">
              <a:lnSpc>
                <a:spcPts val="3300"/>
              </a:lnSpc>
            </a:pPr>
            <a:r>
              <a:rPr lang="en-US" sz="3000" b="1">
                <a:solidFill>
                  <a:srgbClr val="0A3D62"/>
                </a:solidFill>
                <a:latin typeface="Noto Sans Kr Bold"/>
                <a:ea typeface="Noto Sans Kr Bold"/>
                <a:cs typeface="Noto Sans Kr Bold"/>
                <a:sym typeface="Noto Sans Kr Bold"/>
              </a:rPr>
              <a:t>Time-local 랭킹 산출 방식 적용</a:t>
            </a:r>
          </a:p>
          <a:p>
            <a:pPr algn="l">
              <a:lnSpc>
                <a:spcPts val="2860"/>
              </a:lnSpc>
            </a:pPr>
            <a:r>
              <a:rPr lang="en-US" sz="2600">
                <a:solidFill>
                  <a:srgbClr val="0A3D62"/>
                </a:solidFill>
                <a:latin typeface="Noto Sans Kr"/>
                <a:ea typeface="Noto Sans Kr"/>
                <a:cs typeface="Noto Sans Kr"/>
                <a:sym typeface="Noto Sans Kr"/>
              </a:rPr>
              <a:t>시점 t를 포함하는 최근 W일 rolling window를 하나의 설명 단위로 설정함. 각 window마다 다음 두 가지 중요도 랭킹을 산출함.</a:t>
            </a:r>
          </a:p>
          <a:p>
            <a:pPr algn="l">
              <a:lnSpc>
                <a:spcPts val="2860"/>
              </a:lnSpc>
            </a:pPr>
            <a:endParaRPr lang="en-US" sz="2600">
              <a:solidFill>
                <a:srgbClr val="0A3D62"/>
              </a:solidFill>
              <a:latin typeface="Noto Sans Kr"/>
              <a:ea typeface="Noto Sans Kr"/>
              <a:cs typeface="Noto Sans Kr"/>
              <a:sym typeface="Noto Sans Kr"/>
            </a:endParaRPr>
          </a:p>
          <a:p>
            <a:pPr algn="ctr">
              <a:lnSpc>
                <a:spcPts val="2200"/>
              </a:lnSpc>
            </a:pPr>
            <a:r>
              <a:rPr lang="en-US" sz="2000">
                <a:solidFill>
                  <a:srgbClr val="0A3D62"/>
                </a:solidFill>
                <a:latin typeface="Noto Sans Kr"/>
                <a:ea typeface="Noto Sans Kr"/>
                <a:cs typeface="Noto Sans Kr"/>
                <a:sym typeface="Noto Sans Kr"/>
              </a:rPr>
              <a:t>R₁(t): Permutation Importance 기반 중요도 랭킹</a:t>
            </a:r>
          </a:p>
          <a:p>
            <a:pPr algn="ctr">
              <a:lnSpc>
                <a:spcPts val="2200"/>
              </a:lnSpc>
            </a:pPr>
            <a:r>
              <a:rPr lang="en-US" sz="2000">
                <a:solidFill>
                  <a:srgbClr val="0A3D62"/>
                </a:solidFill>
                <a:latin typeface="Noto Sans Kr"/>
                <a:ea typeface="Noto Sans Kr"/>
                <a:cs typeface="Noto Sans Kr"/>
                <a:sym typeface="Noto Sans Kr"/>
              </a:rPr>
              <a:t>R₂(t): SHAP 기반 중요도 랭킹</a:t>
            </a:r>
          </a:p>
          <a:p>
            <a:pPr algn="l">
              <a:lnSpc>
                <a:spcPts val="2860"/>
              </a:lnSpc>
            </a:pPr>
            <a:endParaRPr lang="en-US" sz="2000">
              <a:solidFill>
                <a:srgbClr val="0A3D62"/>
              </a:solidFill>
              <a:latin typeface="Noto Sans Kr"/>
              <a:ea typeface="Noto Sans Kr"/>
              <a:cs typeface="Noto Sans Kr"/>
              <a:sym typeface="Noto Sans Kr"/>
            </a:endParaRPr>
          </a:p>
          <a:p>
            <a:pPr algn="l">
              <a:lnSpc>
                <a:spcPts val="2860"/>
              </a:lnSpc>
            </a:pPr>
            <a:r>
              <a:rPr lang="en-US" sz="2600">
                <a:solidFill>
                  <a:srgbClr val="0A3D62"/>
                </a:solidFill>
                <a:latin typeface="Noto Sans Kr"/>
                <a:ea typeface="Noto Sans Kr"/>
                <a:cs typeface="Noto Sans Kr"/>
                <a:sym typeface="Noto Sans Kr"/>
              </a:rPr>
              <a:t>해당 두 랭킹을 시점 t의 time-local explanation으로 간주함. 이 구조를 통해 레짐 전환, 변동성 급증 등 불확실성 국면에서 설명 기법 간 합의 약화가 자연스럽게 발생하도록 설계함. 이를 기반으로 C-index를 “해당 시점의 예측 판단이 구조적으로 신뢰 가능한 상태인가”를 평가하는 지표로 정의함.</a:t>
            </a:r>
          </a:p>
          <a:p>
            <a:pPr algn="l">
              <a:lnSpc>
                <a:spcPts val="2860"/>
              </a:lnSpc>
            </a:pPr>
            <a:endParaRPr lang="en-US" sz="2600">
              <a:solidFill>
                <a:srgbClr val="0A3D62"/>
              </a:solidFill>
              <a:latin typeface="Noto Sans Kr"/>
              <a:ea typeface="Noto Sans Kr"/>
              <a:cs typeface="Noto Sans Kr"/>
              <a:sym typeface="Noto Sans K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graphicFrame>
        <p:nvGraphicFramePr>
          <p:cNvPr id="2" name="Object 2"/>
          <p:cNvGraphicFramePr/>
          <p:nvPr>
            <p:extLst>
              <p:ext uri="{D42A27DB-BD31-4B8C-83A1-F6EECF244321}">
                <p14:modId xmlns:p14="http://schemas.microsoft.com/office/powerpoint/2010/main" val="3652419720"/>
              </p:ext>
            </p:extLst>
          </p:nvPr>
        </p:nvGraphicFramePr>
        <p:xfrm>
          <a:off x="669981" y="2232154"/>
          <a:ext cx="13981113" cy="4984750"/>
        </p:xfrm>
        <a:graphic>
          <a:graphicData uri="http://schemas.openxmlformats.org/presentationml/2006/ole">
            <mc:AlternateContent xmlns:mc="http://schemas.openxmlformats.org/markup-compatibility/2006">
              <mc:Choice xmlns:v="urn:schemas-microsoft-com:vml" Requires="v">
                <p:oleObj name="워크시트" r:id="rId2" imgW="20053300" imgH="5981700" progId="Excel.Sheet.12">
                  <p:embed/>
                </p:oleObj>
              </mc:Choice>
              <mc:Fallback>
                <p:oleObj name="워크시트" r:id="rId2" imgW="20053300" imgH="5981700" progId="Excel.Sheet.12">
                  <p:embed/>
                  <p:pic>
                    <p:nvPicPr>
                      <p:cNvPr id="0" name=""/>
                      <p:cNvPicPr/>
                      <p:nvPr/>
                    </p:nvPicPr>
                    <p:blipFill>
                      <a:blip r:embed="rId3"/>
                      <a:stretch>
                        <a:fillRect/>
                      </a:stretch>
                    </p:blipFill>
                    <p:spPr>
                      <a:xfrm>
                        <a:off x="669981" y="2232154"/>
                        <a:ext cx="13981113" cy="4984750"/>
                      </a:xfrm>
                      <a:prstGeom prst="rect">
                        <a:avLst/>
                      </a:prstGeom>
                    </p:spPr>
                  </p:pic>
                </p:oleObj>
              </mc:Fallback>
            </mc:AlternateContent>
          </a:graphicData>
        </a:graphic>
      </p:graphicFrame>
      <p:sp>
        <p:nvSpPr>
          <p:cNvPr id="3" name="Freeform 3"/>
          <p:cNvSpPr/>
          <p:nvPr/>
        </p:nvSpPr>
        <p:spPr>
          <a:xfrm>
            <a:off x="518627" y="8818774"/>
            <a:ext cx="12389231" cy="1011333"/>
          </a:xfrm>
          <a:custGeom>
            <a:avLst/>
            <a:gdLst/>
            <a:ahLst/>
            <a:cxnLst/>
            <a:rect l="l" t="t" r="r" b="b"/>
            <a:pathLst>
              <a:path w="12389231" h="1011333">
                <a:moveTo>
                  <a:pt x="0" y="0"/>
                </a:moveTo>
                <a:lnTo>
                  <a:pt x="12389231" y="0"/>
                </a:lnTo>
                <a:lnTo>
                  <a:pt x="12389231" y="1011333"/>
                </a:lnTo>
                <a:lnTo>
                  <a:pt x="0" y="1011333"/>
                </a:lnTo>
                <a:lnTo>
                  <a:pt x="0" y="0"/>
                </a:lnTo>
                <a:close/>
              </a:path>
            </a:pathLst>
          </a:custGeom>
          <a:blipFill>
            <a:blip r:embed="rId4"/>
            <a:stretch>
              <a:fillRect b="-2597"/>
            </a:stretch>
          </a:blipFill>
        </p:spPr>
        <p:txBody>
          <a:bodyPr/>
          <a:lstStyle/>
          <a:p>
            <a:endParaRPr lang="ko-KR" altLang="en-US"/>
          </a:p>
        </p:txBody>
      </p:sp>
      <p:sp>
        <p:nvSpPr>
          <p:cNvPr id="4" name="TextBox 4"/>
          <p:cNvSpPr txBox="1"/>
          <p:nvPr/>
        </p:nvSpPr>
        <p:spPr>
          <a:xfrm>
            <a:off x="349954" y="366755"/>
            <a:ext cx="14621168" cy="1139828"/>
          </a:xfrm>
          <a:prstGeom prst="rect">
            <a:avLst/>
          </a:prstGeom>
        </p:spPr>
        <p:txBody>
          <a:bodyPr lIns="0" tIns="0" rIns="0" bIns="0" rtlCol="0" anchor="t">
            <a:spAutoFit/>
          </a:bodyPr>
          <a:lstStyle/>
          <a:p>
            <a:pPr marL="0" lvl="0" indent="0" algn="l">
              <a:lnSpc>
                <a:spcPts val="8800"/>
              </a:lnSpc>
            </a:pPr>
            <a:r>
              <a:rPr lang="en-US" sz="8000" b="1">
                <a:solidFill>
                  <a:srgbClr val="0A3D62"/>
                </a:solidFill>
                <a:latin typeface="Noto Sans Kr Bold"/>
                <a:ea typeface="Noto Sans Kr Bold"/>
                <a:cs typeface="Noto Sans Kr Bold"/>
                <a:sym typeface="Noto Sans Kr Bold"/>
              </a:rPr>
              <a:t>설명 추출 결과 </a:t>
            </a:r>
          </a:p>
        </p:txBody>
      </p:sp>
      <p:sp>
        <p:nvSpPr>
          <p:cNvPr id="5" name="TextBox 5"/>
          <p:cNvSpPr txBox="1"/>
          <p:nvPr/>
        </p:nvSpPr>
        <p:spPr>
          <a:xfrm>
            <a:off x="8897503" y="9707753"/>
            <a:ext cx="492993" cy="447675"/>
          </a:xfrm>
          <a:prstGeom prst="rect">
            <a:avLst/>
          </a:prstGeom>
        </p:spPr>
        <p:txBody>
          <a:bodyPr lIns="0" tIns="0" rIns="0" bIns="0" rtlCol="0" anchor="t">
            <a:spAutoFit/>
          </a:bodyPr>
          <a:lstStyle/>
          <a:p>
            <a:pPr algn="ctr">
              <a:lnSpc>
                <a:spcPts val="3300"/>
              </a:lnSpc>
              <a:spcBef>
                <a:spcPct val="0"/>
              </a:spcBef>
            </a:pPr>
            <a:r>
              <a:rPr lang="en-US" sz="3000">
                <a:solidFill>
                  <a:srgbClr val="000000"/>
                </a:solidFill>
                <a:latin typeface="Georgia Pro Light"/>
                <a:ea typeface="Georgia Pro Light"/>
                <a:cs typeface="Georgia Pro Light"/>
                <a:sym typeface="Georgia Pro Light"/>
              </a:rPr>
              <a:t>-9-</a:t>
            </a:r>
          </a:p>
        </p:txBody>
      </p:sp>
      <p:sp>
        <p:nvSpPr>
          <p:cNvPr id="6" name="TextBox 6"/>
          <p:cNvSpPr txBox="1"/>
          <p:nvPr/>
        </p:nvSpPr>
        <p:spPr>
          <a:xfrm>
            <a:off x="518627" y="1650363"/>
            <a:ext cx="807765" cy="438150"/>
          </a:xfrm>
          <a:prstGeom prst="rect">
            <a:avLst/>
          </a:prstGeom>
        </p:spPr>
        <p:txBody>
          <a:bodyPr lIns="0" tIns="0" rIns="0" bIns="0" rtlCol="0" anchor="t">
            <a:spAutoFit/>
          </a:bodyPr>
          <a:lstStyle/>
          <a:p>
            <a:pPr algn="ctr">
              <a:lnSpc>
                <a:spcPts val="3300"/>
              </a:lnSpc>
              <a:spcBef>
                <a:spcPct val="0"/>
              </a:spcBef>
            </a:pPr>
            <a:r>
              <a:rPr lang="en-US" sz="3000" b="1">
                <a:solidFill>
                  <a:srgbClr val="0A3D62"/>
                </a:solidFill>
                <a:latin typeface="Noto Sans Kr Bold"/>
                <a:ea typeface="Noto Sans Kr Bold"/>
                <a:cs typeface="Noto Sans Kr Bold"/>
                <a:sym typeface="Noto Sans Kr Bold"/>
              </a:rPr>
              <a:t>요약 </a:t>
            </a:r>
          </a:p>
        </p:txBody>
      </p:sp>
      <p:sp>
        <p:nvSpPr>
          <p:cNvPr id="7" name="TextBox 7"/>
          <p:cNvSpPr txBox="1"/>
          <p:nvPr/>
        </p:nvSpPr>
        <p:spPr>
          <a:xfrm>
            <a:off x="183617" y="8380624"/>
            <a:ext cx="2885019" cy="438150"/>
          </a:xfrm>
          <a:prstGeom prst="rect">
            <a:avLst/>
          </a:prstGeom>
        </p:spPr>
        <p:txBody>
          <a:bodyPr lIns="0" tIns="0" rIns="0" bIns="0" rtlCol="0" anchor="t">
            <a:spAutoFit/>
          </a:bodyPr>
          <a:lstStyle/>
          <a:p>
            <a:pPr algn="ctr">
              <a:lnSpc>
                <a:spcPts val="3300"/>
              </a:lnSpc>
              <a:spcBef>
                <a:spcPct val="0"/>
              </a:spcBef>
            </a:pPr>
            <a:r>
              <a:rPr lang="en-US" sz="3000" b="1">
                <a:solidFill>
                  <a:srgbClr val="0A3D62"/>
                </a:solidFill>
                <a:latin typeface="Noto Sans Kr Bold"/>
                <a:ea typeface="Noto Sans Kr Bold"/>
                <a:cs typeface="Noto Sans Kr Bold"/>
                <a:sym typeface="Noto Sans Kr Bold"/>
              </a:rPr>
              <a:t>샘플 출력 예시</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
        <p:nvSpPr>
          <p:cNvPr id="2" name="Freeform 2"/>
          <p:cNvSpPr/>
          <p:nvPr/>
        </p:nvSpPr>
        <p:spPr>
          <a:xfrm>
            <a:off x="9624761" y="3308769"/>
            <a:ext cx="8067161" cy="5949531"/>
          </a:xfrm>
          <a:custGeom>
            <a:avLst/>
            <a:gdLst/>
            <a:ahLst/>
            <a:cxnLst/>
            <a:rect l="l" t="t" r="r" b="b"/>
            <a:pathLst>
              <a:path w="8067161" h="5949531">
                <a:moveTo>
                  <a:pt x="0" y="0"/>
                </a:moveTo>
                <a:lnTo>
                  <a:pt x="8067160" y="0"/>
                </a:lnTo>
                <a:lnTo>
                  <a:pt x="8067160" y="5949531"/>
                </a:lnTo>
                <a:lnTo>
                  <a:pt x="0" y="5949531"/>
                </a:lnTo>
                <a:lnTo>
                  <a:pt x="0" y="0"/>
                </a:lnTo>
                <a:close/>
              </a:path>
            </a:pathLst>
          </a:custGeom>
          <a:blipFill>
            <a:blip r:embed="rId2"/>
            <a:stretch>
              <a:fillRect/>
            </a:stretch>
          </a:blipFill>
        </p:spPr>
        <p:txBody>
          <a:bodyPr/>
          <a:lstStyle/>
          <a:p>
            <a:endParaRPr lang="ko-KR" altLang="en-US"/>
          </a:p>
        </p:txBody>
      </p:sp>
      <p:sp>
        <p:nvSpPr>
          <p:cNvPr id="3" name="Freeform 3"/>
          <p:cNvSpPr/>
          <p:nvPr/>
        </p:nvSpPr>
        <p:spPr>
          <a:xfrm>
            <a:off x="402195" y="3308769"/>
            <a:ext cx="8071392" cy="5949531"/>
          </a:xfrm>
          <a:custGeom>
            <a:avLst/>
            <a:gdLst/>
            <a:ahLst/>
            <a:cxnLst/>
            <a:rect l="l" t="t" r="r" b="b"/>
            <a:pathLst>
              <a:path w="8071392" h="5949531">
                <a:moveTo>
                  <a:pt x="0" y="0"/>
                </a:moveTo>
                <a:lnTo>
                  <a:pt x="8071392" y="0"/>
                </a:lnTo>
                <a:lnTo>
                  <a:pt x="8071392" y="5949531"/>
                </a:lnTo>
                <a:lnTo>
                  <a:pt x="0" y="5949531"/>
                </a:lnTo>
                <a:lnTo>
                  <a:pt x="0" y="0"/>
                </a:lnTo>
                <a:close/>
              </a:path>
            </a:pathLst>
          </a:custGeom>
          <a:blipFill>
            <a:blip r:embed="rId3"/>
            <a:stretch>
              <a:fillRect/>
            </a:stretch>
          </a:blipFill>
        </p:spPr>
        <p:txBody>
          <a:bodyPr/>
          <a:lstStyle/>
          <a:p>
            <a:endParaRPr lang="ko-KR" altLang="en-US"/>
          </a:p>
        </p:txBody>
      </p:sp>
      <p:sp>
        <p:nvSpPr>
          <p:cNvPr id="4" name="TextBox 4"/>
          <p:cNvSpPr txBox="1"/>
          <p:nvPr/>
        </p:nvSpPr>
        <p:spPr>
          <a:xfrm>
            <a:off x="211356" y="366755"/>
            <a:ext cx="14621168" cy="1139828"/>
          </a:xfrm>
          <a:prstGeom prst="rect">
            <a:avLst/>
          </a:prstGeom>
        </p:spPr>
        <p:txBody>
          <a:bodyPr lIns="0" tIns="0" rIns="0" bIns="0" rtlCol="0" anchor="t">
            <a:spAutoFit/>
          </a:bodyPr>
          <a:lstStyle/>
          <a:p>
            <a:pPr marL="0" lvl="0" indent="0" algn="l">
              <a:lnSpc>
                <a:spcPts val="8800"/>
              </a:lnSpc>
            </a:pPr>
            <a:r>
              <a:rPr lang="en-US" sz="8000" b="1">
                <a:solidFill>
                  <a:srgbClr val="0A3D62"/>
                </a:solidFill>
                <a:latin typeface="Noto Sans Kr Bold"/>
                <a:ea typeface="Noto Sans Kr Bold"/>
                <a:cs typeface="Noto Sans Kr Bold"/>
                <a:sym typeface="Noto Sans Kr Bold"/>
              </a:rPr>
              <a:t>설명 불일치성 확인 </a:t>
            </a:r>
          </a:p>
        </p:txBody>
      </p:sp>
      <p:sp>
        <p:nvSpPr>
          <p:cNvPr id="5" name="TextBox 5"/>
          <p:cNvSpPr txBox="1"/>
          <p:nvPr/>
        </p:nvSpPr>
        <p:spPr>
          <a:xfrm>
            <a:off x="8792766" y="9707753"/>
            <a:ext cx="702469" cy="447675"/>
          </a:xfrm>
          <a:prstGeom prst="rect">
            <a:avLst/>
          </a:prstGeom>
        </p:spPr>
        <p:txBody>
          <a:bodyPr lIns="0" tIns="0" rIns="0" bIns="0" rtlCol="0" anchor="t">
            <a:spAutoFit/>
          </a:bodyPr>
          <a:lstStyle/>
          <a:p>
            <a:pPr algn="ctr">
              <a:lnSpc>
                <a:spcPts val="3300"/>
              </a:lnSpc>
              <a:spcBef>
                <a:spcPct val="0"/>
              </a:spcBef>
            </a:pPr>
            <a:r>
              <a:rPr lang="en-US" sz="3000">
                <a:solidFill>
                  <a:srgbClr val="000000"/>
                </a:solidFill>
                <a:latin typeface="Georgia Pro Light"/>
                <a:ea typeface="Georgia Pro Light"/>
                <a:cs typeface="Georgia Pro Light"/>
                <a:sym typeface="Georgia Pro Light"/>
              </a:rPr>
              <a:t>-10-</a:t>
            </a:r>
          </a:p>
        </p:txBody>
      </p:sp>
      <p:sp>
        <p:nvSpPr>
          <p:cNvPr id="6" name="TextBox 6"/>
          <p:cNvSpPr txBox="1"/>
          <p:nvPr/>
        </p:nvSpPr>
        <p:spPr>
          <a:xfrm>
            <a:off x="349954" y="1666993"/>
            <a:ext cx="4087937" cy="282575"/>
          </a:xfrm>
          <a:prstGeom prst="rect">
            <a:avLst/>
          </a:prstGeom>
        </p:spPr>
        <p:txBody>
          <a:bodyPr lIns="0" tIns="0" rIns="0" bIns="0" rtlCol="0" anchor="t">
            <a:spAutoFit/>
          </a:bodyPr>
          <a:lstStyle/>
          <a:p>
            <a:pPr algn="ctr">
              <a:lnSpc>
                <a:spcPts val="2200"/>
              </a:lnSpc>
              <a:spcBef>
                <a:spcPct val="0"/>
              </a:spcBef>
            </a:pPr>
            <a:r>
              <a:rPr lang="en-US" sz="2000">
                <a:solidFill>
                  <a:srgbClr val="000000"/>
                </a:solidFill>
                <a:latin typeface="Noto Sans Kr"/>
                <a:ea typeface="Noto Sans Kr"/>
                <a:cs typeface="Noto Sans Kr"/>
                <a:sym typeface="Noto Sans Kr"/>
              </a:rPr>
              <a:t>*SHAP vs Permutation Importance</a:t>
            </a:r>
          </a:p>
        </p:txBody>
      </p:sp>
      <p:sp>
        <p:nvSpPr>
          <p:cNvPr id="7" name="TextBox 7"/>
          <p:cNvSpPr txBox="1"/>
          <p:nvPr/>
        </p:nvSpPr>
        <p:spPr>
          <a:xfrm>
            <a:off x="9598976" y="2716379"/>
            <a:ext cx="3474765" cy="438150"/>
          </a:xfrm>
          <a:prstGeom prst="rect">
            <a:avLst/>
          </a:prstGeom>
        </p:spPr>
        <p:txBody>
          <a:bodyPr lIns="0" tIns="0" rIns="0" bIns="0" rtlCol="0" anchor="t">
            <a:spAutoFit/>
          </a:bodyPr>
          <a:lstStyle/>
          <a:p>
            <a:pPr algn="ctr">
              <a:lnSpc>
                <a:spcPts val="3300"/>
              </a:lnSpc>
            </a:pPr>
            <a:r>
              <a:rPr lang="en-US" sz="3000" b="1">
                <a:solidFill>
                  <a:srgbClr val="0A3D62"/>
                </a:solidFill>
                <a:latin typeface="Noto Sans Kr Bold"/>
                <a:ea typeface="Noto Sans Kr Bold"/>
                <a:cs typeface="Noto Sans Kr Bold"/>
                <a:sym typeface="Noto Sans Kr Bold"/>
              </a:rPr>
              <a:t>설명기법 간 불일치율 </a:t>
            </a:r>
          </a:p>
        </p:txBody>
      </p:sp>
      <p:sp>
        <p:nvSpPr>
          <p:cNvPr id="8" name="TextBox 8"/>
          <p:cNvSpPr txBox="1"/>
          <p:nvPr/>
        </p:nvSpPr>
        <p:spPr>
          <a:xfrm>
            <a:off x="0" y="2716379"/>
            <a:ext cx="6952119" cy="438150"/>
          </a:xfrm>
          <a:prstGeom prst="rect">
            <a:avLst/>
          </a:prstGeom>
        </p:spPr>
        <p:txBody>
          <a:bodyPr lIns="0" tIns="0" rIns="0" bIns="0" rtlCol="0" anchor="t">
            <a:spAutoFit/>
          </a:bodyPr>
          <a:lstStyle/>
          <a:p>
            <a:pPr algn="ctr">
              <a:lnSpc>
                <a:spcPts val="3300"/>
              </a:lnSpc>
            </a:pPr>
            <a:r>
              <a:rPr lang="en-US" sz="3000" b="1">
                <a:solidFill>
                  <a:srgbClr val="0A3D62"/>
                </a:solidFill>
                <a:latin typeface="Noto Sans Kr Bold"/>
                <a:ea typeface="Noto Sans Kr Bold"/>
                <a:cs typeface="Noto Sans Kr Bold"/>
                <a:sym typeface="Noto Sans Kr Bold"/>
              </a:rPr>
              <a:t>설명기법 간 랭킹 overlap ratio의 분포</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
        <p:nvSpPr>
          <p:cNvPr id="2" name="TextBox 2"/>
          <p:cNvSpPr txBox="1"/>
          <p:nvPr/>
        </p:nvSpPr>
        <p:spPr>
          <a:xfrm>
            <a:off x="666750" y="733425"/>
            <a:ext cx="8324850" cy="1149353"/>
          </a:xfrm>
          <a:prstGeom prst="rect">
            <a:avLst/>
          </a:prstGeom>
        </p:spPr>
        <p:txBody>
          <a:bodyPr lIns="0" tIns="0" rIns="0" bIns="0" rtlCol="0" anchor="t">
            <a:spAutoFit/>
          </a:bodyPr>
          <a:lstStyle/>
          <a:p>
            <a:pPr marL="0" lvl="0" indent="0" algn="l">
              <a:lnSpc>
                <a:spcPts val="8800"/>
              </a:lnSpc>
            </a:pPr>
            <a:endParaRPr/>
          </a:p>
        </p:txBody>
      </p:sp>
      <p:sp>
        <p:nvSpPr>
          <p:cNvPr id="3" name="TextBox 3"/>
          <p:cNvSpPr txBox="1"/>
          <p:nvPr/>
        </p:nvSpPr>
        <p:spPr>
          <a:xfrm>
            <a:off x="8792766" y="9707753"/>
            <a:ext cx="702469" cy="447675"/>
          </a:xfrm>
          <a:prstGeom prst="rect">
            <a:avLst/>
          </a:prstGeom>
        </p:spPr>
        <p:txBody>
          <a:bodyPr lIns="0" tIns="0" rIns="0" bIns="0" rtlCol="0" anchor="t">
            <a:spAutoFit/>
          </a:bodyPr>
          <a:lstStyle/>
          <a:p>
            <a:pPr algn="ctr">
              <a:lnSpc>
                <a:spcPts val="3300"/>
              </a:lnSpc>
              <a:spcBef>
                <a:spcPct val="0"/>
              </a:spcBef>
            </a:pPr>
            <a:r>
              <a:rPr lang="en-US" sz="3000">
                <a:solidFill>
                  <a:srgbClr val="000000"/>
                </a:solidFill>
                <a:latin typeface="Georgia Pro Light"/>
                <a:ea typeface="Georgia Pro Light"/>
                <a:cs typeface="Georgia Pro Light"/>
                <a:sym typeface="Georgia Pro Light"/>
              </a:rPr>
              <a:t>-11-</a:t>
            </a:r>
          </a:p>
        </p:txBody>
      </p:sp>
      <p:sp>
        <p:nvSpPr>
          <p:cNvPr id="4" name="TextBox 4"/>
          <p:cNvSpPr txBox="1"/>
          <p:nvPr/>
        </p:nvSpPr>
        <p:spPr>
          <a:xfrm>
            <a:off x="356395" y="685800"/>
            <a:ext cx="16050629" cy="8401050"/>
          </a:xfrm>
          <a:prstGeom prst="rect">
            <a:avLst/>
          </a:prstGeom>
        </p:spPr>
        <p:txBody>
          <a:bodyPr lIns="0" tIns="0" rIns="0" bIns="0" rtlCol="0" anchor="t">
            <a:spAutoFit/>
          </a:bodyPr>
          <a:lstStyle/>
          <a:p>
            <a:pPr algn="just">
              <a:lnSpc>
                <a:spcPts val="3300"/>
              </a:lnSpc>
            </a:pPr>
            <a:endParaRPr/>
          </a:p>
          <a:p>
            <a:pPr algn="just">
              <a:lnSpc>
                <a:spcPts val="3300"/>
              </a:lnSpc>
            </a:pPr>
            <a:r>
              <a:rPr lang="en-US" sz="3000" b="1">
                <a:solidFill>
                  <a:srgbClr val="0A3D62"/>
                </a:solidFill>
                <a:latin typeface="Noto Sans Kr Bold"/>
                <a:ea typeface="Noto Sans Kr Bold"/>
                <a:cs typeface="Noto Sans Kr Bold"/>
                <a:sym typeface="Noto Sans Kr Bold"/>
              </a:rPr>
              <a:t>C-index 도입 필요성 재확인</a:t>
            </a:r>
          </a:p>
          <a:p>
            <a:pPr algn="just">
              <a:lnSpc>
                <a:spcPts val="3300"/>
              </a:lnSpc>
              <a:spcBef>
                <a:spcPct val="0"/>
              </a:spcBef>
            </a:pPr>
            <a:r>
              <a:rPr lang="en-US" sz="3000">
                <a:solidFill>
                  <a:srgbClr val="0A3D62"/>
                </a:solidFill>
                <a:latin typeface="Noto Sans Kr"/>
                <a:ea typeface="Noto Sans Kr"/>
                <a:cs typeface="Noto Sans Kr"/>
                <a:sym typeface="Noto Sans Kr"/>
              </a:rPr>
              <a:t>Permutation Importance와 SHAP 기반 랭킹은 동일한 모델과 동일한 데이터 window를 사용하였음에도 불구하고, 상위 피처 구성에서 일관된 차이를 보였음. Permutation 랭킹은 수익률·변동성 계열과 같이 예측 성능 민감도가 높은 피처를 상대적으로 상위에 배치하는 경향을 보인 반면, SHAP 랭킹은 외생 레짐 변수(^VIX, UUP, IEF) 및 모멘텀·변동성 관련 피처를 보다 폭넓게 강조하는 경향을 보였음</a:t>
            </a:r>
          </a:p>
          <a:p>
            <a:pPr algn="just">
              <a:lnSpc>
                <a:spcPts val="3300"/>
              </a:lnSpc>
              <a:spcBef>
                <a:spcPct val="0"/>
              </a:spcBef>
            </a:pPr>
            <a:endParaRPr lang="en-US" sz="3000">
              <a:solidFill>
                <a:srgbClr val="0A3D62"/>
              </a:solidFill>
              <a:latin typeface="Noto Sans Kr"/>
              <a:ea typeface="Noto Sans Kr"/>
              <a:cs typeface="Noto Sans Kr"/>
              <a:sym typeface="Noto Sans Kr"/>
            </a:endParaRPr>
          </a:p>
          <a:p>
            <a:pPr algn="just">
              <a:lnSpc>
                <a:spcPts val="3300"/>
              </a:lnSpc>
              <a:spcBef>
                <a:spcPct val="0"/>
              </a:spcBef>
            </a:pPr>
            <a:r>
              <a:rPr lang="en-US" sz="3000">
                <a:solidFill>
                  <a:srgbClr val="0A3D62"/>
                </a:solidFill>
                <a:latin typeface="Noto Sans Kr"/>
                <a:ea typeface="Noto Sans Kr"/>
                <a:cs typeface="Noto Sans Kr"/>
                <a:sym typeface="Noto Sans Kr"/>
              </a:rPr>
              <a:t>설명 랭킹 간 합의 수준을 Top-K 기준으로 분석한 결과, 불일치율은 전반적으로 낮지 않은 수준에서 관측되었으며, K에 따라 단조적인 변화 양상은 나타나지 않았음. 특히 Top-3에서는 핵심 피처 수준의 부분적 합의가 유지되는 반면, Top-5 이상에서는 설명 구조 전반에 대한 합의가 상대적으로 약화되는 경향이 확인되었음. 이는 모델이 의존하는 핵심 신호는 일정 부분 공유되지만, 보조적 근거는 설명 기법에 따라 상이하게 해석될 수 있음을 시사함.</a:t>
            </a:r>
          </a:p>
          <a:p>
            <a:pPr algn="just">
              <a:lnSpc>
                <a:spcPts val="3300"/>
              </a:lnSpc>
              <a:spcBef>
                <a:spcPct val="0"/>
              </a:spcBef>
            </a:pPr>
            <a:endParaRPr lang="en-US" sz="3000">
              <a:solidFill>
                <a:srgbClr val="0A3D62"/>
              </a:solidFill>
              <a:latin typeface="Noto Sans Kr"/>
              <a:ea typeface="Noto Sans Kr"/>
              <a:cs typeface="Noto Sans Kr"/>
              <a:sym typeface="Noto Sans Kr"/>
            </a:endParaRPr>
          </a:p>
          <a:p>
            <a:pPr algn="just">
              <a:lnSpc>
                <a:spcPts val="3300"/>
              </a:lnSpc>
              <a:spcBef>
                <a:spcPct val="0"/>
              </a:spcBef>
            </a:pPr>
            <a:r>
              <a:rPr lang="en-US" sz="3000">
                <a:solidFill>
                  <a:srgbClr val="0A3D62"/>
                </a:solidFill>
                <a:latin typeface="Noto Sans Kr"/>
                <a:ea typeface="Noto Sans Kr"/>
                <a:cs typeface="Noto Sans Kr"/>
                <a:sym typeface="Noto Sans Kr"/>
              </a:rPr>
              <a:t>종합하면, 설명 기법 간 합의 수준은 시간과 Top-K에 따라 변동하는 특성을 보였음. 이에 따라 설명 랭킹 간 합의도를 정량화한 C-index는, 예측 성능과는 독립적으로 ‘해당 시점의 예측을 신뢰할 수 있는 상태인가’를 평가하기 위한 보조적 신뢰도 지표로 사용될 수 있을 것으로 보임.</a:t>
            </a:r>
          </a:p>
          <a:p>
            <a:pPr algn="just">
              <a:lnSpc>
                <a:spcPts val="3300"/>
              </a:lnSpc>
              <a:spcBef>
                <a:spcPct val="0"/>
              </a:spcBef>
            </a:pPr>
            <a:endParaRPr lang="en-US" sz="3000">
              <a:solidFill>
                <a:srgbClr val="0A3D62"/>
              </a:solidFill>
              <a:latin typeface="Noto Sans Kr"/>
              <a:ea typeface="Noto Sans Kr"/>
              <a:cs typeface="Noto Sans Kr"/>
              <a:sym typeface="Noto Sans Kr"/>
            </a:endParaRPr>
          </a:p>
          <a:p>
            <a:pPr algn="just">
              <a:lnSpc>
                <a:spcPts val="3300"/>
              </a:lnSpc>
              <a:spcBef>
                <a:spcPct val="0"/>
              </a:spcBef>
            </a:pPr>
            <a:r>
              <a:rPr lang="en-US" sz="3000" u="sng">
                <a:solidFill>
                  <a:srgbClr val="0A3D62"/>
                </a:solidFill>
                <a:latin typeface="Noto Sans Kr"/>
                <a:ea typeface="Noto Sans Kr"/>
                <a:cs typeface="Noto Sans Kr"/>
                <a:sym typeface="Noto Sans Kr"/>
              </a:rPr>
              <a:t>C-index 적용 후 </a:t>
            </a:r>
            <a:r>
              <a:rPr lang="en-US" sz="3000" b="1" u="sng">
                <a:solidFill>
                  <a:srgbClr val="0A3D62"/>
                </a:solidFill>
                <a:latin typeface="Noto Sans Kr Bold"/>
                <a:ea typeface="Noto Sans Kr Bold"/>
                <a:cs typeface="Noto Sans Kr Bold"/>
                <a:sym typeface="Noto Sans Kr Bold"/>
              </a:rPr>
              <a:t>거래 빈도가 감소</a:t>
            </a:r>
            <a:r>
              <a:rPr lang="en-US" sz="3000" u="sng">
                <a:solidFill>
                  <a:srgbClr val="0A3D62"/>
                </a:solidFill>
                <a:latin typeface="Noto Sans Kr"/>
                <a:ea typeface="Noto Sans Kr"/>
                <a:cs typeface="Noto Sans Kr"/>
                <a:sym typeface="Noto Sans Kr"/>
              </a:rPr>
              <a:t>하였으며, </a:t>
            </a:r>
            <a:r>
              <a:rPr lang="en-US" sz="3000" b="1" u="sng">
                <a:solidFill>
                  <a:srgbClr val="0A3D62"/>
                </a:solidFill>
                <a:latin typeface="Noto Sans Kr Bold"/>
                <a:ea typeface="Noto Sans Kr Bold"/>
                <a:cs typeface="Noto Sans Kr Bold"/>
                <a:sym typeface="Noto Sans Kr Bold"/>
              </a:rPr>
              <a:t>제외된 거래에서 손실률·변동성등의 리스크 지표가 유의하게 높게 관측</a:t>
            </a:r>
            <a:r>
              <a:rPr lang="en-US" sz="3000" u="sng">
                <a:solidFill>
                  <a:srgbClr val="0A3D62"/>
                </a:solidFill>
                <a:latin typeface="Noto Sans Kr"/>
                <a:ea typeface="Noto Sans Kr"/>
                <a:cs typeface="Noto Sans Kr"/>
                <a:sym typeface="Noto Sans Kr"/>
              </a:rPr>
              <a:t>된다는 것을 보일 수 있다면 연구의 성공이라고 볼 수 있음.</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
        <p:nvSpPr>
          <p:cNvPr id="2" name="TextBox 2"/>
          <p:cNvSpPr txBox="1"/>
          <p:nvPr/>
        </p:nvSpPr>
        <p:spPr>
          <a:xfrm>
            <a:off x="211356" y="366755"/>
            <a:ext cx="14621168" cy="1139828"/>
          </a:xfrm>
          <a:prstGeom prst="rect">
            <a:avLst/>
          </a:prstGeom>
        </p:spPr>
        <p:txBody>
          <a:bodyPr lIns="0" tIns="0" rIns="0" bIns="0" rtlCol="0" anchor="t">
            <a:spAutoFit/>
          </a:bodyPr>
          <a:lstStyle/>
          <a:p>
            <a:pPr marL="0" lvl="0" indent="0" algn="l">
              <a:lnSpc>
                <a:spcPts val="8800"/>
              </a:lnSpc>
            </a:pPr>
            <a:r>
              <a:rPr lang="en-US" sz="8000" b="1">
                <a:solidFill>
                  <a:srgbClr val="0A3D62"/>
                </a:solidFill>
                <a:latin typeface="Noto Sans Kr Bold"/>
                <a:ea typeface="Noto Sans Kr Bold"/>
                <a:cs typeface="Noto Sans Kr Bold"/>
                <a:sym typeface="Noto Sans Kr Bold"/>
              </a:rPr>
              <a:t>What’s Done/Left </a:t>
            </a:r>
          </a:p>
        </p:txBody>
      </p:sp>
      <p:sp>
        <p:nvSpPr>
          <p:cNvPr id="3" name="TextBox 3"/>
          <p:cNvSpPr txBox="1"/>
          <p:nvPr/>
        </p:nvSpPr>
        <p:spPr>
          <a:xfrm>
            <a:off x="8792766" y="9707753"/>
            <a:ext cx="702469" cy="423193"/>
          </a:xfrm>
          <a:prstGeom prst="rect">
            <a:avLst/>
          </a:prstGeom>
        </p:spPr>
        <p:txBody>
          <a:bodyPr lIns="0" tIns="0" rIns="0" bIns="0" rtlCol="0" anchor="t">
            <a:spAutoFit/>
          </a:bodyPr>
          <a:lstStyle/>
          <a:p>
            <a:pPr algn="ctr">
              <a:lnSpc>
                <a:spcPts val="3300"/>
              </a:lnSpc>
              <a:spcBef>
                <a:spcPct val="0"/>
              </a:spcBef>
            </a:pPr>
            <a:r>
              <a:rPr lang="en-US" sz="3000" dirty="0">
                <a:solidFill>
                  <a:srgbClr val="000000"/>
                </a:solidFill>
                <a:latin typeface="Georgia Pro Light"/>
                <a:ea typeface="Georgia Pro Light"/>
                <a:cs typeface="Georgia Pro Light"/>
                <a:sym typeface="Georgia Pro Light"/>
              </a:rPr>
              <a:t>-1</a:t>
            </a:r>
            <a:r>
              <a:rPr lang="en-US" altLang="ko-KR" sz="3000" dirty="0">
                <a:solidFill>
                  <a:srgbClr val="000000"/>
                </a:solidFill>
                <a:latin typeface="Georgia Pro Light"/>
                <a:ea typeface="Georgia Pro Light"/>
                <a:cs typeface="Georgia Pro Light"/>
                <a:sym typeface="Georgia Pro Light"/>
              </a:rPr>
              <a:t>2</a:t>
            </a:r>
            <a:r>
              <a:rPr lang="en-US" sz="3000" dirty="0">
                <a:solidFill>
                  <a:srgbClr val="000000"/>
                </a:solidFill>
                <a:latin typeface="Georgia Pro Light"/>
                <a:ea typeface="Georgia Pro Light"/>
                <a:cs typeface="Georgia Pro Light"/>
                <a:sym typeface="Georgia Pro Light"/>
              </a:rPr>
              <a:t>-</a:t>
            </a:r>
          </a:p>
        </p:txBody>
      </p:sp>
      <p:sp>
        <p:nvSpPr>
          <p:cNvPr id="4" name="TextBox 4"/>
          <p:cNvSpPr txBox="1"/>
          <p:nvPr/>
        </p:nvSpPr>
        <p:spPr>
          <a:xfrm>
            <a:off x="211356" y="2161986"/>
            <a:ext cx="17919133" cy="6724650"/>
          </a:xfrm>
          <a:prstGeom prst="rect">
            <a:avLst/>
          </a:prstGeom>
        </p:spPr>
        <p:txBody>
          <a:bodyPr lIns="0" tIns="0" rIns="0" bIns="0" rtlCol="0" anchor="t">
            <a:spAutoFit/>
          </a:bodyPr>
          <a:lstStyle/>
          <a:p>
            <a:pPr algn="l">
              <a:lnSpc>
                <a:spcPts val="3300"/>
              </a:lnSpc>
            </a:pPr>
            <a:r>
              <a:rPr lang="en-US" sz="3000" b="1" dirty="0">
                <a:solidFill>
                  <a:schemeClr val="tx2"/>
                </a:solidFill>
                <a:latin typeface="Noto Sans Kr Bold"/>
                <a:ea typeface="Noto Sans Kr Bold"/>
                <a:cs typeface="Noto Sans Kr Bold"/>
                <a:sym typeface="Noto Sans Kr Bold"/>
              </a:rPr>
              <a:t>Done</a:t>
            </a:r>
          </a:p>
          <a:p>
            <a:pPr marL="647700" lvl="1" indent="-323850" algn="l">
              <a:lnSpc>
                <a:spcPts val="3300"/>
              </a:lnSpc>
              <a:buFont typeface="Arial"/>
              <a:buChar char="•"/>
            </a:pPr>
            <a:r>
              <a:rPr lang="en-US" sz="3000" b="1" dirty="0" err="1">
                <a:solidFill>
                  <a:schemeClr val="tx2"/>
                </a:solidFill>
                <a:latin typeface="Noto Sans Kr Bold"/>
                <a:ea typeface="Noto Sans Kr Bold"/>
                <a:cs typeface="Noto Sans Kr Bold"/>
                <a:sym typeface="Noto Sans Kr Bold"/>
              </a:rPr>
              <a:t>데이터</a:t>
            </a:r>
            <a:r>
              <a:rPr lang="en-US" sz="3000" b="1" dirty="0">
                <a:solidFill>
                  <a:schemeClr val="tx2"/>
                </a:solidFill>
                <a:latin typeface="Noto Sans Kr Bold"/>
                <a:ea typeface="Noto Sans Kr Bold"/>
                <a:cs typeface="Noto Sans Kr Bold"/>
                <a:sym typeface="Noto Sans Kr Bold"/>
              </a:rPr>
              <a:t> </a:t>
            </a:r>
            <a:r>
              <a:rPr lang="en-US" sz="3000" b="1" dirty="0" err="1">
                <a:solidFill>
                  <a:schemeClr val="tx2"/>
                </a:solidFill>
                <a:latin typeface="Noto Sans Kr Bold"/>
                <a:ea typeface="Noto Sans Kr Bold"/>
                <a:cs typeface="Noto Sans Kr Bold"/>
                <a:sym typeface="Noto Sans Kr Bold"/>
              </a:rPr>
              <a:t>구성</a:t>
            </a:r>
            <a:endParaRPr lang="en-US" sz="3000" b="1" dirty="0">
              <a:solidFill>
                <a:schemeClr val="tx2"/>
              </a:solidFill>
              <a:latin typeface="Noto Sans Kr Bold"/>
              <a:ea typeface="Noto Sans Kr Bold"/>
              <a:cs typeface="Noto Sans Kr Bold"/>
              <a:sym typeface="Noto Sans Kr Bold"/>
            </a:endParaRPr>
          </a:p>
          <a:p>
            <a:pPr algn="l">
              <a:lnSpc>
                <a:spcPts val="3300"/>
              </a:lnSpc>
            </a:pP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멀티</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자산</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패널</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데이터를</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구축하여</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자산</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종속성을</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최소화한</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실험</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환경을</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구성함</a:t>
            </a:r>
            <a:endParaRPr lang="en-US" sz="3000" dirty="0">
              <a:solidFill>
                <a:schemeClr val="tx2"/>
              </a:solidFill>
              <a:latin typeface="Noto Sans Kr"/>
              <a:ea typeface="Noto Sans Kr"/>
              <a:cs typeface="Noto Sans Kr"/>
              <a:sym typeface="Noto Sans Kr"/>
            </a:endParaRPr>
          </a:p>
          <a:p>
            <a:pPr marL="647700" lvl="1" indent="-323850" algn="l">
              <a:lnSpc>
                <a:spcPts val="3300"/>
              </a:lnSpc>
              <a:buFont typeface="Arial"/>
              <a:buChar char="•"/>
            </a:pPr>
            <a:r>
              <a:rPr lang="en-US" sz="3000" b="1" dirty="0" err="1">
                <a:solidFill>
                  <a:schemeClr val="tx2"/>
                </a:solidFill>
                <a:latin typeface="Noto Sans Kr Bold"/>
                <a:ea typeface="Noto Sans Kr Bold"/>
                <a:cs typeface="Noto Sans Kr Bold"/>
                <a:sym typeface="Noto Sans Kr Bold"/>
              </a:rPr>
              <a:t>라벨링</a:t>
            </a:r>
            <a:r>
              <a:rPr lang="en-US" sz="3000" b="1" dirty="0">
                <a:solidFill>
                  <a:schemeClr val="tx2"/>
                </a:solidFill>
                <a:latin typeface="Noto Sans Kr Bold"/>
                <a:ea typeface="Noto Sans Kr Bold"/>
                <a:cs typeface="Noto Sans Kr Bold"/>
                <a:sym typeface="Noto Sans Kr Bold"/>
              </a:rPr>
              <a:t> </a:t>
            </a:r>
            <a:r>
              <a:rPr lang="en-US" sz="3000" b="1" dirty="0" err="1">
                <a:solidFill>
                  <a:schemeClr val="tx2"/>
                </a:solidFill>
                <a:latin typeface="Noto Sans Kr Bold"/>
                <a:ea typeface="Noto Sans Kr Bold"/>
                <a:cs typeface="Noto Sans Kr Bold"/>
                <a:sym typeface="Noto Sans Kr Bold"/>
              </a:rPr>
              <a:t>및</a:t>
            </a:r>
            <a:r>
              <a:rPr lang="en-US" sz="3000" b="1" dirty="0">
                <a:solidFill>
                  <a:schemeClr val="tx2"/>
                </a:solidFill>
                <a:latin typeface="Noto Sans Kr Bold"/>
                <a:ea typeface="Noto Sans Kr Bold"/>
                <a:cs typeface="Noto Sans Kr Bold"/>
                <a:sym typeface="Noto Sans Kr Bold"/>
              </a:rPr>
              <a:t> </a:t>
            </a:r>
            <a:r>
              <a:rPr lang="en-US" sz="3000" b="1" dirty="0" err="1">
                <a:solidFill>
                  <a:schemeClr val="tx2"/>
                </a:solidFill>
                <a:latin typeface="Noto Sans Kr Bold"/>
                <a:ea typeface="Noto Sans Kr Bold"/>
                <a:cs typeface="Noto Sans Kr Bold"/>
                <a:sym typeface="Noto Sans Kr Bold"/>
              </a:rPr>
              <a:t>베이스</a:t>
            </a:r>
            <a:r>
              <a:rPr lang="en-US" sz="3000" b="1" dirty="0">
                <a:solidFill>
                  <a:schemeClr val="tx2"/>
                </a:solidFill>
                <a:latin typeface="Noto Sans Kr Bold"/>
                <a:ea typeface="Noto Sans Kr Bold"/>
                <a:cs typeface="Noto Sans Kr Bold"/>
                <a:sym typeface="Noto Sans Kr Bold"/>
              </a:rPr>
              <a:t> </a:t>
            </a:r>
            <a:r>
              <a:rPr lang="en-US" sz="3000" b="1" dirty="0" err="1">
                <a:solidFill>
                  <a:schemeClr val="tx2"/>
                </a:solidFill>
                <a:latin typeface="Noto Sans Kr Bold"/>
                <a:ea typeface="Noto Sans Kr Bold"/>
                <a:cs typeface="Noto Sans Kr Bold"/>
                <a:sym typeface="Noto Sans Kr Bold"/>
              </a:rPr>
              <a:t>모델</a:t>
            </a:r>
            <a:endParaRPr lang="en-US" sz="3000" b="1" dirty="0">
              <a:solidFill>
                <a:schemeClr val="tx2"/>
              </a:solidFill>
              <a:latin typeface="Noto Sans Kr Bold"/>
              <a:ea typeface="Noto Sans Kr Bold"/>
              <a:cs typeface="Noto Sans Kr Bold"/>
              <a:sym typeface="Noto Sans Kr Bold"/>
            </a:endParaRPr>
          </a:p>
          <a:p>
            <a:pPr algn="l">
              <a:lnSpc>
                <a:spcPts val="3300"/>
              </a:lnSpc>
            </a:pP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변동성</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기반</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이벤트</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라벨링과</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LightGBM</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베이스라인을</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통해</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예측</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성능과</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분리된</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의사결정</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구조를</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확보함</a:t>
            </a:r>
            <a:endParaRPr lang="en-US" sz="3000" dirty="0">
              <a:solidFill>
                <a:schemeClr val="tx2"/>
              </a:solidFill>
              <a:latin typeface="Noto Sans Kr"/>
              <a:ea typeface="Noto Sans Kr"/>
              <a:cs typeface="Noto Sans Kr"/>
              <a:sym typeface="Noto Sans Kr"/>
            </a:endParaRPr>
          </a:p>
          <a:p>
            <a:pPr marL="647700" lvl="1" indent="-323850" algn="l">
              <a:lnSpc>
                <a:spcPts val="3300"/>
              </a:lnSpc>
              <a:buFont typeface="Arial"/>
              <a:buChar char="•"/>
            </a:pPr>
            <a:r>
              <a:rPr lang="en-US" sz="3000" b="1" dirty="0" err="1">
                <a:solidFill>
                  <a:schemeClr val="tx2"/>
                </a:solidFill>
                <a:latin typeface="Noto Sans Kr Bold"/>
                <a:ea typeface="Noto Sans Kr Bold"/>
                <a:cs typeface="Noto Sans Kr Bold"/>
                <a:sym typeface="Noto Sans Kr Bold"/>
              </a:rPr>
              <a:t>설명</a:t>
            </a:r>
            <a:r>
              <a:rPr lang="en-US" sz="3000" b="1" dirty="0">
                <a:solidFill>
                  <a:schemeClr val="tx2"/>
                </a:solidFill>
                <a:latin typeface="Noto Sans Kr Bold"/>
                <a:ea typeface="Noto Sans Kr Bold"/>
                <a:cs typeface="Noto Sans Kr Bold"/>
                <a:sym typeface="Noto Sans Kr Bold"/>
              </a:rPr>
              <a:t> </a:t>
            </a:r>
            <a:r>
              <a:rPr lang="en-US" sz="3000" b="1" dirty="0" err="1">
                <a:solidFill>
                  <a:schemeClr val="tx2"/>
                </a:solidFill>
                <a:latin typeface="Noto Sans Kr Bold"/>
                <a:ea typeface="Noto Sans Kr Bold"/>
                <a:cs typeface="Noto Sans Kr Bold"/>
                <a:sym typeface="Noto Sans Kr Bold"/>
              </a:rPr>
              <a:t>추출</a:t>
            </a:r>
            <a:r>
              <a:rPr lang="en-US" sz="3000" dirty="0">
                <a:solidFill>
                  <a:schemeClr val="tx2"/>
                </a:solidFill>
                <a:latin typeface="Noto Sans Kr"/>
                <a:ea typeface="Noto Sans Kr"/>
                <a:cs typeface="Noto Sans Kr"/>
                <a:sym typeface="Noto Sans Kr"/>
              </a:rPr>
              <a:t> </a:t>
            </a:r>
          </a:p>
          <a:p>
            <a:pPr algn="l">
              <a:lnSpc>
                <a:spcPts val="3300"/>
              </a:lnSpc>
            </a:pP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동일</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시점에</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대해</a:t>
            </a:r>
            <a:r>
              <a:rPr lang="en-US" sz="3000" dirty="0">
                <a:solidFill>
                  <a:schemeClr val="tx2"/>
                </a:solidFill>
                <a:latin typeface="Noto Sans Kr"/>
                <a:ea typeface="Noto Sans Kr"/>
                <a:cs typeface="Noto Sans Kr"/>
                <a:sym typeface="Noto Sans Kr"/>
              </a:rPr>
              <a:t> Permutation </a:t>
            </a:r>
            <a:r>
              <a:rPr lang="en-US" sz="3000" dirty="0" err="1">
                <a:solidFill>
                  <a:schemeClr val="tx2"/>
                </a:solidFill>
                <a:latin typeface="Noto Sans Kr"/>
                <a:ea typeface="Noto Sans Kr"/>
                <a:cs typeface="Noto Sans Kr"/>
                <a:sym typeface="Noto Sans Kr"/>
              </a:rPr>
              <a:t>Importance와</a:t>
            </a:r>
            <a:r>
              <a:rPr lang="en-US" sz="3000" dirty="0">
                <a:solidFill>
                  <a:schemeClr val="tx2"/>
                </a:solidFill>
                <a:latin typeface="Noto Sans Kr"/>
                <a:ea typeface="Noto Sans Kr"/>
                <a:cs typeface="Noto Sans Kr"/>
                <a:sym typeface="Noto Sans Kr"/>
              </a:rPr>
              <a:t> SHAP </a:t>
            </a:r>
            <a:r>
              <a:rPr lang="en-US" sz="3000" dirty="0" err="1">
                <a:solidFill>
                  <a:schemeClr val="tx2"/>
                </a:solidFill>
                <a:latin typeface="Noto Sans Kr"/>
                <a:ea typeface="Noto Sans Kr"/>
                <a:cs typeface="Noto Sans Kr"/>
                <a:sym typeface="Noto Sans Kr"/>
              </a:rPr>
              <a:t>기반</a:t>
            </a:r>
            <a:r>
              <a:rPr lang="en-US" sz="3000" dirty="0">
                <a:solidFill>
                  <a:schemeClr val="tx2"/>
                </a:solidFill>
                <a:latin typeface="Noto Sans Kr"/>
                <a:ea typeface="Noto Sans Kr"/>
                <a:cs typeface="Noto Sans Kr"/>
                <a:sym typeface="Noto Sans Kr"/>
              </a:rPr>
              <a:t> Top-K </a:t>
            </a:r>
            <a:r>
              <a:rPr lang="en-US" sz="3000" dirty="0" err="1">
                <a:solidFill>
                  <a:schemeClr val="tx2"/>
                </a:solidFill>
                <a:latin typeface="Noto Sans Kr"/>
                <a:ea typeface="Noto Sans Kr"/>
                <a:cs typeface="Noto Sans Kr"/>
                <a:sym typeface="Noto Sans Kr"/>
              </a:rPr>
              <a:t>중요도</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랭킹</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산출</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설명</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간</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불일치</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관측</a:t>
            </a:r>
            <a:endParaRPr lang="en-US" sz="3000" dirty="0">
              <a:solidFill>
                <a:schemeClr val="tx2"/>
              </a:solidFill>
              <a:latin typeface="Noto Sans Kr"/>
              <a:ea typeface="Noto Sans Kr"/>
              <a:cs typeface="Noto Sans Kr"/>
              <a:sym typeface="Noto Sans Kr"/>
            </a:endParaRPr>
          </a:p>
          <a:p>
            <a:pPr algn="l">
              <a:lnSpc>
                <a:spcPts val="3300"/>
              </a:lnSpc>
            </a:pPr>
            <a:endParaRPr lang="en-US" sz="3000" dirty="0">
              <a:solidFill>
                <a:schemeClr val="tx2"/>
              </a:solidFill>
              <a:latin typeface="Noto Sans Kr"/>
              <a:ea typeface="Noto Sans Kr"/>
              <a:cs typeface="Noto Sans Kr"/>
              <a:sym typeface="Noto Sans Kr"/>
            </a:endParaRPr>
          </a:p>
          <a:p>
            <a:pPr algn="l">
              <a:lnSpc>
                <a:spcPts val="3300"/>
              </a:lnSpc>
            </a:pPr>
            <a:r>
              <a:rPr lang="en-US" sz="3000" b="1" dirty="0">
                <a:solidFill>
                  <a:schemeClr val="tx2"/>
                </a:solidFill>
                <a:latin typeface="Noto Sans Kr Bold"/>
                <a:ea typeface="Noto Sans Kr Bold"/>
                <a:cs typeface="Noto Sans Kr Bold"/>
                <a:sym typeface="Noto Sans Kr Bold"/>
              </a:rPr>
              <a:t>Left</a:t>
            </a:r>
          </a:p>
          <a:p>
            <a:pPr marL="647700" lvl="1" indent="-323850" algn="l">
              <a:lnSpc>
                <a:spcPts val="3300"/>
              </a:lnSpc>
              <a:buFont typeface="Arial"/>
              <a:buChar char="•"/>
            </a:pPr>
            <a:r>
              <a:rPr lang="en-US" sz="3000" dirty="0">
                <a:solidFill>
                  <a:schemeClr val="tx2"/>
                </a:solidFill>
                <a:latin typeface="Noto Sans Kr"/>
                <a:ea typeface="Noto Sans Kr"/>
                <a:cs typeface="Noto Sans Kr"/>
                <a:sym typeface="Noto Sans Kr"/>
              </a:rPr>
              <a:t> </a:t>
            </a:r>
            <a:r>
              <a:rPr lang="en-US" sz="3000" b="1" dirty="0">
                <a:solidFill>
                  <a:schemeClr val="tx2"/>
                </a:solidFill>
                <a:latin typeface="Noto Sans Kr Bold"/>
                <a:ea typeface="Noto Sans Kr Bold"/>
                <a:cs typeface="Noto Sans Kr Bold"/>
                <a:sym typeface="Noto Sans Kr Bold"/>
              </a:rPr>
              <a:t>C-index </a:t>
            </a:r>
            <a:r>
              <a:rPr lang="en-US" sz="3000" b="1" dirty="0" err="1">
                <a:solidFill>
                  <a:schemeClr val="tx2"/>
                </a:solidFill>
                <a:latin typeface="Noto Sans Kr Bold"/>
                <a:ea typeface="Noto Sans Kr Bold"/>
                <a:cs typeface="Noto Sans Kr Bold"/>
                <a:sym typeface="Noto Sans Kr Bold"/>
              </a:rPr>
              <a:t>정의</a:t>
            </a:r>
            <a:endParaRPr lang="en-US" sz="3000" b="1" dirty="0">
              <a:solidFill>
                <a:schemeClr val="tx2"/>
              </a:solidFill>
              <a:latin typeface="Noto Sans Kr Bold"/>
              <a:ea typeface="Noto Sans Kr Bold"/>
              <a:cs typeface="Noto Sans Kr Bold"/>
              <a:sym typeface="Noto Sans Kr Bold"/>
            </a:endParaRPr>
          </a:p>
          <a:p>
            <a:pPr algn="l">
              <a:lnSpc>
                <a:spcPts val="3300"/>
              </a:lnSpc>
            </a:pP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설명</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기법</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간</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랭킹</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합의도를</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정량화하는</a:t>
            </a:r>
            <a:r>
              <a:rPr lang="en-US" sz="3000" dirty="0">
                <a:solidFill>
                  <a:schemeClr val="tx2"/>
                </a:solidFill>
                <a:latin typeface="Noto Sans Kr"/>
                <a:ea typeface="Noto Sans Kr"/>
                <a:cs typeface="Noto Sans Kr"/>
                <a:sym typeface="Noto Sans Kr"/>
              </a:rPr>
              <a:t> C-</a:t>
            </a:r>
            <a:r>
              <a:rPr lang="en-US" sz="3000" dirty="0" err="1">
                <a:solidFill>
                  <a:schemeClr val="tx2"/>
                </a:solidFill>
                <a:latin typeface="Noto Sans Kr"/>
                <a:ea typeface="Noto Sans Kr"/>
                <a:cs typeface="Noto Sans Kr"/>
                <a:sym typeface="Noto Sans Kr"/>
              </a:rPr>
              <a:t>index의</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수식적</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정의와</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해석</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범위를</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확정할</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예정임</a:t>
            </a:r>
            <a:r>
              <a:rPr lang="en-US" sz="3000" dirty="0">
                <a:solidFill>
                  <a:schemeClr val="tx2"/>
                </a:solidFill>
                <a:latin typeface="Noto Sans Kr"/>
                <a:ea typeface="Noto Sans Kr"/>
                <a:cs typeface="Noto Sans Kr"/>
                <a:sym typeface="Noto Sans Kr"/>
              </a:rPr>
              <a:t> </a:t>
            </a:r>
          </a:p>
          <a:p>
            <a:pPr marL="647700" lvl="1" indent="-323850" algn="l">
              <a:lnSpc>
                <a:spcPts val="3300"/>
              </a:lnSpc>
              <a:buFont typeface="Arial"/>
              <a:buChar char="•"/>
            </a:pPr>
            <a:r>
              <a:rPr lang="en-US" sz="3000" b="1" dirty="0" err="1">
                <a:solidFill>
                  <a:schemeClr val="tx2"/>
                </a:solidFill>
                <a:latin typeface="Noto Sans Kr Bold"/>
                <a:ea typeface="Noto Sans Kr Bold"/>
                <a:cs typeface="Noto Sans Kr Bold"/>
                <a:sym typeface="Noto Sans Kr Bold"/>
              </a:rPr>
              <a:t>거래</a:t>
            </a:r>
            <a:r>
              <a:rPr lang="en-US" sz="3000" b="1" dirty="0">
                <a:solidFill>
                  <a:schemeClr val="tx2"/>
                </a:solidFill>
                <a:latin typeface="Noto Sans Kr Bold"/>
                <a:ea typeface="Noto Sans Kr Bold"/>
                <a:cs typeface="Noto Sans Kr Bold"/>
                <a:sym typeface="Noto Sans Kr Bold"/>
              </a:rPr>
              <a:t> </a:t>
            </a:r>
            <a:r>
              <a:rPr lang="en-US" sz="3000" b="1" dirty="0" err="1">
                <a:solidFill>
                  <a:schemeClr val="tx2"/>
                </a:solidFill>
                <a:latin typeface="Noto Sans Kr Bold"/>
                <a:ea typeface="Noto Sans Kr Bold"/>
                <a:cs typeface="Noto Sans Kr Bold"/>
                <a:sym typeface="Noto Sans Kr Bold"/>
              </a:rPr>
              <a:t>필터링</a:t>
            </a:r>
            <a:r>
              <a:rPr lang="en-US" sz="3000" b="1" dirty="0">
                <a:solidFill>
                  <a:schemeClr val="tx2"/>
                </a:solidFill>
                <a:latin typeface="Noto Sans Kr Bold"/>
                <a:ea typeface="Noto Sans Kr Bold"/>
                <a:cs typeface="Noto Sans Kr Bold"/>
                <a:sym typeface="Noto Sans Kr Bold"/>
              </a:rPr>
              <a:t> </a:t>
            </a:r>
            <a:r>
              <a:rPr lang="en-US" sz="3000" b="1" dirty="0" err="1">
                <a:solidFill>
                  <a:schemeClr val="tx2"/>
                </a:solidFill>
                <a:latin typeface="Noto Sans Kr Bold"/>
                <a:ea typeface="Noto Sans Kr Bold"/>
                <a:cs typeface="Noto Sans Kr Bold"/>
                <a:sym typeface="Noto Sans Kr Bold"/>
              </a:rPr>
              <a:t>실증</a:t>
            </a:r>
            <a:endParaRPr lang="en-US" sz="3000" b="1" dirty="0">
              <a:solidFill>
                <a:schemeClr val="tx2"/>
              </a:solidFill>
              <a:latin typeface="Noto Sans Kr Bold"/>
              <a:ea typeface="Noto Sans Kr Bold"/>
              <a:cs typeface="Noto Sans Kr Bold"/>
              <a:sym typeface="Noto Sans Kr Bold"/>
            </a:endParaRPr>
          </a:p>
          <a:p>
            <a:pPr algn="l">
              <a:lnSpc>
                <a:spcPts val="3300"/>
              </a:lnSpc>
            </a:pPr>
            <a:r>
              <a:rPr lang="en-US" sz="3000" dirty="0">
                <a:solidFill>
                  <a:schemeClr val="tx2"/>
                </a:solidFill>
                <a:latin typeface="Noto Sans Kr"/>
                <a:ea typeface="Noto Sans Kr"/>
                <a:cs typeface="Noto Sans Kr"/>
                <a:sym typeface="Noto Sans Kr"/>
              </a:rPr>
              <a:t>       C-</a:t>
            </a:r>
            <a:r>
              <a:rPr lang="en-US" sz="3000" dirty="0" err="1">
                <a:solidFill>
                  <a:schemeClr val="tx2"/>
                </a:solidFill>
                <a:latin typeface="Noto Sans Kr"/>
                <a:ea typeface="Noto Sans Kr"/>
                <a:cs typeface="Noto Sans Kr"/>
                <a:sym typeface="Noto Sans Kr"/>
              </a:rPr>
              <a:t>index를</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거래</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필터로</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적용하여</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drawdown·변동성</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등</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리스크</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완화</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효과를</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비교</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실증할</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예정임</a:t>
            </a:r>
            <a:endParaRPr lang="en-US" sz="3000" dirty="0">
              <a:solidFill>
                <a:schemeClr val="tx2"/>
              </a:solidFill>
              <a:latin typeface="Noto Sans Kr"/>
              <a:ea typeface="Noto Sans Kr"/>
              <a:cs typeface="Noto Sans Kr"/>
              <a:sym typeface="Noto Sans Kr"/>
            </a:endParaRPr>
          </a:p>
          <a:p>
            <a:pPr marL="647700" lvl="1" indent="-323850" algn="l">
              <a:lnSpc>
                <a:spcPts val="3300"/>
              </a:lnSpc>
              <a:buFont typeface="Arial"/>
              <a:buChar char="•"/>
            </a:pPr>
            <a:r>
              <a:rPr lang="en-US" sz="3000" b="1" dirty="0">
                <a:solidFill>
                  <a:schemeClr val="tx2"/>
                </a:solidFill>
                <a:latin typeface="Noto Sans Kr Bold"/>
                <a:ea typeface="Noto Sans Kr Bold"/>
                <a:cs typeface="Noto Sans Kr Bold"/>
                <a:sym typeface="Noto Sans Kr Bold"/>
              </a:rPr>
              <a:t>Robustness / Ablation Study</a:t>
            </a:r>
          </a:p>
          <a:p>
            <a:pPr algn="l">
              <a:lnSpc>
                <a:spcPts val="3300"/>
              </a:lnSpc>
            </a:pP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모델·자산·라벨·XAI</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조합</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변경에도</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동일한</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결론이</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유지되는지</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검증할</a:t>
            </a:r>
            <a:r>
              <a:rPr lang="en-US" sz="3000" dirty="0">
                <a:solidFill>
                  <a:schemeClr val="tx2"/>
                </a:solidFill>
                <a:latin typeface="Noto Sans Kr"/>
                <a:ea typeface="Noto Sans Kr"/>
                <a:cs typeface="Noto Sans Kr"/>
                <a:sym typeface="Noto Sans Kr"/>
              </a:rPr>
              <a:t> </a:t>
            </a:r>
            <a:r>
              <a:rPr lang="en-US" sz="3000" dirty="0" err="1">
                <a:solidFill>
                  <a:schemeClr val="tx2"/>
                </a:solidFill>
                <a:latin typeface="Noto Sans Kr"/>
                <a:ea typeface="Noto Sans Kr"/>
                <a:cs typeface="Noto Sans Kr"/>
                <a:sym typeface="Noto Sans Kr"/>
              </a:rPr>
              <a:t>예정임</a:t>
            </a:r>
            <a:endParaRPr lang="en-US" sz="3000" dirty="0">
              <a:solidFill>
                <a:schemeClr val="tx2"/>
              </a:solidFill>
              <a:latin typeface="Noto Sans Kr"/>
              <a:ea typeface="Noto Sans Kr"/>
              <a:cs typeface="Noto Sans Kr"/>
              <a:sym typeface="Noto Sans Kr"/>
            </a:endParaRPr>
          </a:p>
          <a:p>
            <a:pPr algn="l">
              <a:lnSpc>
                <a:spcPts val="3300"/>
              </a:lnSpc>
            </a:pPr>
            <a:endParaRPr lang="en-US" sz="3000" dirty="0">
              <a:solidFill>
                <a:schemeClr val="tx2"/>
              </a:solidFill>
              <a:latin typeface="Noto Sans Kr"/>
              <a:ea typeface="Noto Sans Kr"/>
              <a:cs typeface="Noto Sans Kr"/>
              <a:sym typeface="Noto Sans K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
        <p:nvSpPr>
          <p:cNvPr id="2" name="TextBox 2"/>
          <p:cNvSpPr txBox="1"/>
          <p:nvPr/>
        </p:nvSpPr>
        <p:spPr>
          <a:xfrm>
            <a:off x="0" y="4894351"/>
            <a:ext cx="18288000" cy="1276350"/>
          </a:xfrm>
          <a:prstGeom prst="rect">
            <a:avLst/>
          </a:prstGeom>
        </p:spPr>
        <p:txBody>
          <a:bodyPr lIns="0" tIns="0" rIns="0" bIns="0" rtlCol="0" anchor="t">
            <a:spAutoFit/>
          </a:bodyPr>
          <a:lstStyle/>
          <a:p>
            <a:pPr algn="ctr">
              <a:lnSpc>
                <a:spcPts val="3300"/>
              </a:lnSpc>
            </a:pPr>
            <a:r>
              <a:rPr lang="en-US" sz="3000" b="1" dirty="0" err="1">
                <a:solidFill>
                  <a:schemeClr val="tx2"/>
                </a:solidFill>
                <a:latin typeface="Noto Sans Kr Bold"/>
                <a:ea typeface="Noto Sans Kr Bold"/>
                <a:cs typeface="Noto Sans Kr Bold"/>
                <a:sym typeface="Noto Sans Kr Bold"/>
              </a:rPr>
              <a:t>구글</a:t>
            </a:r>
            <a:r>
              <a:rPr lang="en-US" sz="3000" b="1" dirty="0">
                <a:solidFill>
                  <a:schemeClr val="tx2"/>
                </a:solidFill>
                <a:latin typeface="Noto Sans Kr Bold"/>
                <a:ea typeface="Noto Sans Kr Bold"/>
                <a:cs typeface="Noto Sans Kr Bold"/>
                <a:sym typeface="Noto Sans Kr Bold"/>
              </a:rPr>
              <a:t> </a:t>
            </a:r>
            <a:r>
              <a:rPr lang="en-US" sz="3000" b="1" dirty="0" err="1">
                <a:solidFill>
                  <a:schemeClr val="tx2"/>
                </a:solidFill>
                <a:latin typeface="Noto Sans Kr Bold"/>
                <a:ea typeface="Noto Sans Kr Bold"/>
                <a:cs typeface="Noto Sans Kr Bold"/>
                <a:sym typeface="Noto Sans Kr Bold"/>
              </a:rPr>
              <a:t>코랩</a:t>
            </a:r>
            <a:r>
              <a:rPr lang="en-US" sz="3000" b="1" dirty="0">
                <a:solidFill>
                  <a:schemeClr val="tx2"/>
                </a:solidFill>
                <a:latin typeface="Noto Sans Kr Bold"/>
                <a:ea typeface="Noto Sans Kr Bold"/>
                <a:cs typeface="Noto Sans Kr Bold"/>
                <a:sym typeface="Noto Sans Kr Bold"/>
              </a:rPr>
              <a:t> </a:t>
            </a:r>
            <a:r>
              <a:rPr lang="en-US" sz="3000" b="1" dirty="0" err="1">
                <a:solidFill>
                  <a:schemeClr val="tx2"/>
                </a:solidFill>
                <a:latin typeface="Noto Sans Kr Bold"/>
                <a:ea typeface="Noto Sans Kr Bold"/>
                <a:cs typeface="Noto Sans Kr Bold"/>
                <a:sym typeface="Noto Sans Kr Bold"/>
              </a:rPr>
              <a:t>링크</a:t>
            </a:r>
            <a:r>
              <a:rPr lang="en-US" sz="3000" dirty="0">
                <a:solidFill>
                  <a:schemeClr val="tx2"/>
                </a:solidFill>
                <a:latin typeface="Noto Sans Kr"/>
                <a:ea typeface="Noto Sans Kr"/>
                <a:cs typeface="Noto Sans Kr"/>
                <a:sym typeface="Noto Sans Kr"/>
              </a:rPr>
              <a:t>: </a:t>
            </a:r>
            <a:r>
              <a:rPr lang="en-US" sz="3000" dirty="0">
                <a:solidFill>
                  <a:srgbClr val="000000"/>
                </a:solidFill>
                <a:latin typeface="Noto Sans Kr"/>
                <a:ea typeface="Noto Sans Kr"/>
                <a:cs typeface="Noto Sans Kr"/>
                <a:sym typeface="Noto Sans Kr"/>
                <a:hlinkClick r:id="rId2"/>
              </a:rPr>
              <a:t>https://</a:t>
            </a:r>
            <a:r>
              <a:rPr lang="en-US" sz="3000" dirty="0" err="1">
                <a:solidFill>
                  <a:srgbClr val="000000"/>
                </a:solidFill>
                <a:latin typeface="Noto Sans Kr"/>
                <a:ea typeface="Noto Sans Kr"/>
                <a:cs typeface="Noto Sans Kr"/>
                <a:sym typeface="Noto Sans Kr"/>
                <a:hlinkClick r:id="rId2"/>
              </a:rPr>
              <a:t>colab.research.google.com</a:t>
            </a:r>
            <a:r>
              <a:rPr lang="en-US" sz="3000" dirty="0">
                <a:solidFill>
                  <a:srgbClr val="000000"/>
                </a:solidFill>
                <a:latin typeface="Noto Sans Kr"/>
                <a:ea typeface="Noto Sans Kr"/>
                <a:cs typeface="Noto Sans Kr"/>
                <a:sym typeface="Noto Sans Kr"/>
                <a:hlinkClick r:id="rId2"/>
              </a:rPr>
              <a:t>/drive/185nZPzUIvrPj1BpXqUY7lprbxn8-7CbP?authuser=1#scrollTo=8hndqgx8ODge</a:t>
            </a:r>
            <a:endParaRPr lang="en-US" sz="3000" dirty="0">
              <a:solidFill>
                <a:srgbClr val="000000"/>
              </a:solidFill>
              <a:latin typeface="Noto Sans Kr"/>
              <a:ea typeface="Noto Sans Kr"/>
              <a:cs typeface="Noto Sans Kr"/>
              <a:sym typeface="Noto Sans Kr"/>
            </a:endParaRPr>
          </a:p>
          <a:p>
            <a:pPr algn="ctr">
              <a:lnSpc>
                <a:spcPts val="3300"/>
              </a:lnSpc>
              <a:spcBef>
                <a:spcPct val="0"/>
              </a:spcBef>
            </a:pPr>
            <a:endParaRPr lang="en-US" sz="3000" dirty="0">
              <a:solidFill>
                <a:srgbClr val="000000"/>
              </a:solidFill>
              <a:latin typeface="Noto Sans Kr"/>
              <a:ea typeface="Noto Sans Kr"/>
              <a:cs typeface="Noto Sans Kr"/>
              <a:sym typeface="Noto Sans K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1283</Words>
  <Application>Microsoft Macintosh PowerPoint</Application>
  <PresentationFormat>사용자 지정</PresentationFormat>
  <Paragraphs>151</Paragraphs>
  <Slides>14</Slides>
  <Notes>0</Notes>
  <HiddenSlides>0</HiddenSlides>
  <MMClips>0</MMClips>
  <ScaleCrop>false</ScaleCrop>
  <HeadingPairs>
    <vt:vector size="8" baseType="variant">
      <vt:variant>
        <vt:lpstr>사용한 글꼴</vt:lpstr>
      </vt:variant>
      <vt:variant>
        <vt:i4>8</vt:i4>
      </vt:variant>
      <vt:variant>
        <vt:lpstr>테마</vt:lpstr>
      </vt:variant>
      <vt:variant>
        <vt:i4>1</vt:i4>
      </vt:variant>
      <vt:variant>
        <vt:lpstr>포함된 OLE 서버</vt:lpstr>
      </vt:variant>
      <vt:variant>
        <vt:i4>1</vt:i4>
      </vt:variant>
      <vt:variant>
        <vt:lpstr>슬라이드 제목</vt:lpstr>
      </vt:variant>
      <vt:variant>
        <vt:i4>14</vt:i4>
      </vt:variant>
    </vt:vector>
  </HeadingPairs>
  <TitlesOfParts>
    <vt:vector size="24" baseType="lpstr">
      <vt:lpstr>DM Sans</vt:lpstr>
      <vt:lpstr>Noto Sans Kr</vt:lpstr>
      <vt:lpstr>Noto Sans Kr Bold</vt:lpstr>
      <vt:lpstr>DM Sans Bold</vt:lpstr>
      <vt:lpstr>Arial</vt:lpstr>
      <vt:lpstr>YAD1aU3sLnI_0</vt:lpstr>
      <vt:lpstr>Georgia Pro Light</vt:lpstr>
      <vt:lpstr>Calibri</vt:lpstr>
      <vt:lpstr>Office Theme</vt:lpstr>
      <vt:lpstr>Microsoft Excel 워크시트</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프레젠테이션 - 연구 중간보고서</dc:title>
  <dc:description>프레젠테이션 - 연구 중간보고서</dc:description>
  <cp:lastModifiedBy>강병오</cp:lastModifiedBy>
  <cp:revision>3</cp:revision>
  <dcterms:created xsi:type="dcterms:W3CDTF">2006-08-16T00:00:00Z</dcterms:created>
  <dcterms:modified xsi:type="dcterms:W3CDTF">2026-01-21T12:09:48Z</dcterms:modified>
  <dc:identifier>DAG_BbSGs2I</dc:identifier>
</cp:coreProperties>
</file>