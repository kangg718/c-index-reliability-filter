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753600" cy="7315200"/>
  <p:notesSz cx="6858000" cy="9144000"/>
  <p:embeddedFontLst>
    <p:embeddedFont>
      <p:font typeface="Malgun Gothic" panose="020B0503020000020004" pitchFamily="34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eorgia Pro" panose="02040502050405020303" pitchFamily="18" charset="0"/>
      <p:regular r:id="rId20"/>
      <p:bold r:id="rId21"/>
      <p:italic r:id="rId22"/>
      <p:boldItalic r:id="rId23"/>
    </p:embeddedFont>
    <p:embeddedFont>
      <p:font typeface="Georgia Pro Bold" panose="02040502050405020303" pitchFamily="18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593" autoAdjust="0"/>
  </p:normalViewPr>
  <p:slideViewPr>
    <p:cSldViewPr>
      <p:cViewPr varScale="1">
        <p:scale>
          <a:sx n="115" d="100"/>
          <a:sy n="115" d="100"/>
        </p:scale>
        <p:origin x="136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1520" y="5950490"/>
            <a:ext cx="670276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b="1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팀원</a:t>
            </a:r>
            <a:r>
              <a:rPr lang="en-US" sz="1800" b="1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: 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강병오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(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경희대학교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컴퓨터공학과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)</a:t>
            </a:r>
          </a:p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800" b="1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지도</a:t>
            </a:r>
            <a:r>
              <a:rPr lang="en-US" sz="1800" b="1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800" b="1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교수</a:t>
            </a:r>
            <a:r>
              <a:rPr lang="en-US" sz="1800" b="1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: 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최인수</a:t>
            </a:r>
            <a:r>
              <a:rPr lang="en-US" sz="1800" b="1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(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가천대학교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금융빅데이터학과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(</a:t>
            </a:r>
            <a:r>
              <a:rPr lang="en-US" sz="1800" spc="179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부</a:t>
            </a:r>
            <a:r>
              <a:rPr lang="en-US" sz="1800" spc="179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))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2374900"/>
            <a:ext cx="8536459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C-index :</a:t>
            </a:r>
          </a:p>
          <a:p>
            <a:pPr algn="l">
              <a:lnSpc>
                <a:spcPts val="3999"/>
              </a:lnSpc>
            </a:pPr>
            <a:endParaRPr lang="en-US" sz="3999" spc="-159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l">
              <a:lnSpc>
                <a:spcPts val="3999"/>
              </a:lnSpc>
            </a:pPr>
            <a:r>
              <a:rPr lang="en-US" sz="3999" spc="-159" dirty="0" err="1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XAI간의</a:t>
            </a: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Ranking </a:t>
            </a:r>
            <a:r>
              <a:rPr lang="en-US" sz="3999" spc="-159" dirty="0" err="1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Consensus를</a:t>
            </a: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</a:t>
            </a:r>
            <a:r>
              <a:rPr lang="en-US" sz="3999" spc="-159" dirty="0" err="1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활용한</a:t>
            </a: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</a:t>
            </a:r>
          </a:p>
          <a:p>
            <a:pPr algn="l">
              <a:lnSpc>
                <a:spcPts val="3999"/>
              </a:lnSpc>
            </a:pPr>
            <a:r>
              <a:rPr lang="en-US" sz="3999" spc="-159" dirty="0" err="1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금융</a:t>
            </a: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</a:t>
            </a:r>
            <a:r>
              <a:rPr lang="en-US" sz="3999" spc="-159" dirty="0" err="1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자산</a:t>
            </a: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</a:t>
            </a:r>
            <a:r>
              <a:rPr lang="en-US" sz="3999" spc="-159" dirty="0" err="1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예측의</a:t>
            </a:r>
            <a:r>
              <a:rPr lang="en-US" sz="3999" spc="-15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Risk-Gating Meta-Layer</a:t>
            </a:r>
          </a:p>
          <a:p>
            <a:pPr marL="0" lvl="0" indent="0" algn="l">
              <a:lnSpc>
                <a:spcPts val="4500"/>
              </a:lnSpc>
              <a:spcBef>
                <a:spcPct val="0"/>
              </a:spcBef>
            </a:pPr>
            <a:endParaRPr lang="en-US" sz="3999" spc="-159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8791" y="2279612"/>
            <a:ext cx="4005657" cy="4005657"/>
          </a:xfrm>
          <a:custGeom>
            <a:avLst/>
            <a:gdLst/>
            <a:ahLst/>
            <a:cxnLst/>
            <a:rect l="l" t="t" r="r" b="b"/>
            <a:pathLst>
              <a:path w="4005657" h="4005657">
                <a:moveTo>
                  <a:pt x="0" y="0"/>
                </a:moveTo>
                <a:lnTo>
                  <a:pt x="4005657" y="0"/>
                </a:lnTo>
                <a:lnTo>
                  <a:pt x="4005657" y="4005657"/>
                </a:lnTo>
                <a:lnTo>
                  <a:pt x="0" y="4005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21995" y="1234009"/>
            <a:ext cx="681933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07039" y="2270087"/>
            <a:ext cx="4967770" cy="4129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7463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금융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매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시점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자산별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매수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/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비매수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생성함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3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같은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확률이라도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그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예측이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만들어진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판단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근거는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시장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환경에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따라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달라질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있음</a:t>
            </a:r>
            <a:endParaRPr lang="en-US" sz="1933" b="1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3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이때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XAI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기법들이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중요하게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보는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Feature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Ranking도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불안정해질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있음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3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따라서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본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연구는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기법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feature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ranking의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일관성을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기반으로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933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신호의</a:t>
            </a:r>
            <a:r>
              <a:rPr lang="en-US" sz="1933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신뢰도를</a:t>
            </a:r>
            <a:r>
              <a:rPr lang="en-US" sz="1933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정량화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하고자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48987" y="3657600"/>
            <a:ext cx="6428213" cy="3416947"/>
          </a:xfrm>
          <a:custGeom>
            <a:avLst/>
            <a:gdLst/>
            <a:ahLst/>
            <a:cxnLst/>
            <a:rect l="l" t="t" r="r" b="b"/>
            <a:pathLst>
              <a:path w="6591489" h="3641797">
                <a:moveTo>
                  <a:pt x="0" y="0"/>
                </a:moveTo>
                <a:lnTo>
                  <a:pt x="6591489" y="0"/>
                </a:lnTo>
                <a:lnTo>
                  <a:pt x="6591489" y="3641797"/>
                </a:lnTo>
                <a:lnTo>
                  <a:pt x="0" y="3641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31520" y="685800"/>
            <a:ext cx="8426422" cy="12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192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Motivation</a:t>
            </a:r>
          </a:p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endParaRPr lang="en-US" sz="4800" spc="-192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95658" y="1368082"/>
            <a:ext cx="8300085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확률을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통해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각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강도를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제시함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732" lvl="1"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그러나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실제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운용에서는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“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예측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확률이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높은가”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보다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“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예측을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믿고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집행할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수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있는가”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중요함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732" lvl="1"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따라서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성능뿐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아니라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판단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근거의</a:t>
            </a:r>
            <a:r>
              <a:rPr lang="en-US" sz="1933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일관성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함께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측정할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필요가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있음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1994" y="624455"/>
            <a:ext cx="811720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C-Index (Consensus-Index)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9114" y="1828800"/>
            <a:ext cx="8300085" cy="530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모델이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어떤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feature를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근거로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예측했는지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설명하는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방법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SHAP, Permutation Importance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등은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특징별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중요도를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랭킹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형태로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제시함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본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연구에서는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동일한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시점에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대해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복수의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XAI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ranking을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산출함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기법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간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Feature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Ranking의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유사도를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하나의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수치로</a:t>
            </a:r>
            <a:r>
              <a:rPr lang="en-US" sz="1933" b="1" u="sng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933" b="1" u="sng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정량화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지표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내부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구조를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바꾸지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않고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신뢰도를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b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외부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에서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평가하는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reliability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score로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활용함</a:t>
            </a: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z="1933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Agreement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metric으로는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i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Italics"/>
                <a:sym typeface="Georgia Pro Italics"/>
              </a:rPr>
              <a:t>Kendall’s Tau, Top-K Kendall’s Tau, Rank-Biased Overlap(RBO), Mallows </a:t>
            </a:r>
            <a:r>
              <a:rPr lang="en-US" sz="1933" i="1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Italics"/>
                <a:sym typeface="Georgia Pro Italics"/>
              </a:rPr>
              <a:t>proxy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활용하여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랭킹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유사도를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다양한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관점에서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측정함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0949" y="1524000"/>
            <a:ext cx="1381952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b="1" spc="-84" dirty="0">
                <a:solidFill>
                  <a:srgbClr val="18173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XAI </a:t>
            </a:r>
            <a:r>
              <a:rPr lang="en-US" sz="2100" b="1" spc="-84" dirty="0" err="1">
                <a:solidFill>
                  <a:srgbClr val="18173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기법</a:t>
            </a:r>
            <a:endParaRPr lang="en-US" sz="2100" b="1" spc="-84" dirty="0">
              <a:solidFill>
                <a:srgbClr val="181739"/>
              </a:solidFill>
              <a:latin typeface="Georgia Pro Bold"/>
              <a:ea typeface="Georgia Pro Bold"/>
              <a:cs typeface="Georgia Pro Bold"/>
              <a:sym typeface="Georgia Pr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3656" y="4150296"/>
            <a:ext cx="1936539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b="1" spc="-84" dirty="0">
                <a:solidFill>
                  <a:srgbClr val="18173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C-Index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5079" y="1879804"/>
            <a:ext cx="9463443" cy="5323186"/>
          </a:xfrm>
          <a:custGeom>
            <a:avLst/>
            <a:gdLst/>
            <a:ahLst/>
            <a:cxnLst/>
            <a:rect l="l" t="t" r="r" b="b"/>
            <a:pathLst>
              <a:path w="9463443" h="5323186">
                <a:moveTo>
                  <a:pt x="0" y="0"/>
                </a:moveTo>
                <a:lnTo>
                  <a:pt x="9463442" y="0"/>
                </a:lnTo>
                <a:lnTo>
                  <a:pt x="9463442" y="5323186"/>
                </a:lnTo>
                <a:lnTo>
                  <a:pt x="0" y="532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259252" y="1759403"/>
            <a:ext cx="681933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4-step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31520" y="838200"/>
            <a:ext cx="681933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Experiment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1524000"/>
            <a:ext cx="8290560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  <a:spcBef>
                <a:spcPct val="0"/>
              </a:spcBef>
            </a:pP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2012년부터 2025년까지의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주요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자산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일별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가격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데이터에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대해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복수의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모델과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XAI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기반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C-index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필터를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적용하여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일관성이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낮은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신호를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제거했을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때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성과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지표가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개선되는지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검증하는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실험을</a:t>
            </a:r>
            <a:r>
              <a:rPr lang="en-US" sz="1500" spc="-6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-6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진행하였음</a:t>
            </a:r>
            <a:endParaRPr lang="en-US" sz="1500" spc="-60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  <p:pic>
        <p:nvPicPr>
          <p:cNvPr id="8" name="그림 7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5D8B19C8-EAF4-C3EF-BF68-D157241FA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310929"/>
            <a:ext cx="8183880" cy="4851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9789" y="3028475"/>
            <a:ext cx="3369389" cy="1553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Filtering Effect</a:t>
            </a:r>
          </a:p>
          <a:p>
            <a:pPr algn="ctr">
              <a:lnSpc>
                <a:spcPts val="3079"/>
              </a:lnSpc>
            </a:pPr>
            <a:endParaRPr lang="en-US" sz="2199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ctr">
              <a:lnSpc>
                <a:spcPts val="3079"/>
              </a:lnSpc>
            </a:pPr>
            <a:endParaRPr lang="en-US" sz="2199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ctr">
              <a:lnSpc>
                <a:spcPts val="3079"/>
              </a:lnSpc>
            </a:pPr>
            <a:endParaRPr lang="en-US" sz="2199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618088" y="2919343"/>
            <a:ext cx="2507898" cy="591713"/>
            <a:chOff x="0" y="0"/>
            <a:chExt cx="928851" cy="2191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8851" cy="219153"/>
            </a:xfrm>
            <a:custGeom>
              <a:avLst/>
              <a:gdLst/>
              <a:ahLst/>
              <a:cxnLst/>
              <a:rect l="l" t="t" r="r" b="b"/>
              <a:pathLst>
                <a:path w="928851" h="219153">
                  <a:moveTo>
                    <a:pt x="0" y="0"/>
                  </a:moveTo>
                  <a:lnTo>
                    <a:pt x="928851" y="0"/>
                  </a:lnTo>
                  <a:lnTo>
                    <a:pt x="928851" y="219153"/>
                  </a:lnTo>
                  <a:lnTo>
                    <a:pt x="0" y="21915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928851" cy="21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1995" y="1234009"/>
            <a:ext cx="681933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Evalutation Metrics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1995" y="1944403"/>
            <a:ext cx="8300085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효율성과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위험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조정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성과를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함께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고려하여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C-index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필터링의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효과를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33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평가함</a:t>
            </a:r>
            <a:r>
              <a:rPr lang="en-US" sz="1933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4773348"/>
            <a:ext cx="3369389" cy="19660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/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spc="36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Trade Count: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횟수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194310" lvl="1" algn="l">
              <a:lnSpc>
                <a:spcPts val="2160"/>
              </a:lnSpc>
            </a:pPr>
            <a:endParaRPr lang="en-US" spc="36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spc="36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Avg Return: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평균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수익률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spc="36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marL="388620" lvl="1" indent="-194310" algn="l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36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Win Rate: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승률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endParaRPr lang="en-US" sz="1800" spc="36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09181" y="4344723"/>
            <a:ext cx="186429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spc="43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Rish Handling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4363773"/>
            <a:ext cx="29505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36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Trading Efficiency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1425" y="4225079"/>
            <a:ext cx="2507898" cy="591713"/>
            <a:chOff x="0" y="0"/>
            <a:chExt cx="928851" cy="2191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8851" cy="219153"/>
            </a:xfrm>
            <a:custGeom>
              <a:avLst/>
              <a:gdLst/>
              <a:ahLst/>
              <a:cxnLst/>
              <a:rect l="l" t="t" r="r" b="b"/>
              <a:pathLst>
                <a:path w="928851" h="219153">
                  <a:moveTo>
                    <a:pt x="0" y="0"/>
                  </a:moveTo>
                  <a:lnTo>
                    <a:pt x="928851" y="0"/>
                  </a:lnTo>
                  <a:lnTo>
                    <a:pt x="928851" y="219153"/>
                  </a:lnTo>
                  <a:lnTo>
                    <a:pt x="0" y="21915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928851" cy="21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7379" y="4210792"/>
            <a:ext cx="2507898" cy="591713"/>
            <a:chOff x="0" y="0"/>
            <a:chExt cx="928851" cy="2191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8851" cy="219153"/>
            </a:xfrm>
            <a:custGeom>
              <a:avLst/>
              <a:gdLst/>
              <a:ahLst/>
              <a:cxnLst/>
              <a:rect l="l" t="t" r="r" b="b"/>
              <a:pathLst>
                <a:path w="928851" h="219153">
                  <a:moveTo>
                    <a:pt x="0" y="0"/>
                  </a:moveTo>
                  <a:lnTo>
                    <a:pt x="928851" y="0"/>
                  </a:lnTo>
                  <a:lnTo>
                    <a:pt x="928851" y="219153"/>
                  </a:lnTo>
                  <a:lnTo>
                    <a:pt x="0" y="21915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928851" cy="21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2205375" y="3511056"/>
            <a:ext cx="2666663" cy="7140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4872037" y="3511056"/>
            <a:ext cx="2669291" cy="6997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019476" y="5021580"/>
            <a:ext cx="5806372" cy="196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160"/>
              </a:lnSpc>
              <a:buFont typeface="Arial"/>
              <a:buChar char="•"/>
            </a:pPr>
            <a:r>
              <a:rPr lang="en-US" sz="1800" spc="36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Sharpe: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변동성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대비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</a:p>
          <a:p>
            <a:pPr algn="just">
              <a:lnSpc>
                <a:spcPts val="2160"/>
              </a:lnSpc>
            </a:pPr>
            <a:r>
              <a:rPr lang="en-US" sz="1800" spc="36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     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평균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수익률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(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수익의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안정성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)</a:t>
            </a:r>
          </a:p>
          <a:p>
            <a:pPr algn="just">
              <a:lnSpc>
                <a:spcPts val="2160"/>
              </a:lnSpc>
            </a:pPr>
            <a:endParaRPr lang="en-US" sz="1800" spc="36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marL="388620" lvl="1" indent="-194310" algn="just">
              <a:lnSpc>
                <a:spcPts val="2160"/>
              </a:lnSpc>
              <a:buFont typeface="Arial"/>
              <a:buChar char="•"/>
            </a:pPr>
            <a:r>
              <a:rPr lang="en-US" sz="1800" spc="36" dirty="0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Max Drawdown: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누적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손실의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just">
              <a:lnSpc>
                <a:spcPts val="2160"/>
              </a:lnSpc>
            </a:pP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 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최대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낙폭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endParaRPr lang="en-US" sz="1800" spc="36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endParaRPr lang="en-US" sz="1800" spc="36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1995" y="1234009"/>
            <a:ext cx="681933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Sharpe Ratio Calculation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5000" y="2812919"/>
            <a:ext cx="6172200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1189" lvl="1" indent="-342900" algn="l">
              <a:lnSpc>
                <a:spcPts val="231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C-index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필터링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이후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거래가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매일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발생하지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않음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551189" lvl="1" indent="-342900" algn="l">
              <a:lnSpc>
                <a:spcPts val="231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551189" lvl="1" indent="-342900" algn="l">
              <a:lnSpc>
                <a:spcPts val="231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분모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√252를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그대로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적용하면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실제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빈도보다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Sharpe가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과대평가될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있음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551189" lvl="1" indent="-342900" algn="l">
              <a:lnSpc>
                <a:spcPts val="231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551189" lvl="1" indent="-342900" algn="l">
              <a:lnSpc>
                <a:spcPts val="231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따라서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본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연구는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Per-trade </a:t>
            </a: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Sharpe를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main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지표로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사용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하고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빈도를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반영한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an</a:t>
            </a: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nualized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Sharpe는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보조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지표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289" lvl="1" algn="l">
              <a:lnSpc>
                <a:spcPts val="2315"/>
              </a:lnSpc>
              <a:spcBef>
                <a:spcPct val="0"/>
              </a:spcBef>
            </a:pPr>
            <a:r>
              <a:rPr lang="ko-KR" alt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  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로</a:t>
            </a:r>
            <a:r>
              <a:rPr lang="en-US" sz="1929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929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제시함</a:t>
            </a:r>
            <a:endParaRPr lang="en-US" sz="1929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377EA35-8F90-51CD-362D-AC101414F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76087"/>
            <a:ext cx="51689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44959" y="2819399"/>
            <a:ext cx="7994241" cy="4361645"/>
          </a:xfrm>
          <a:custGeom>
            <a:avLst/>
            <a:gdLst/>
            <a:ahLst/>
            <a:cxnLst/>
            <a:rect l="l" t="t" r="r" b="b"/>
            <a:pathLst>
              <a:path w="8177121" h="4524320">
                <a:moveTo>
                  <a:pt x="0" y="0"/>
                </a:moveTo>
                <a:lnTo>
                  <a:pt x="8177121" y="0"/>
                </a:lnTo>
                <a:lnTo>
                  <a:pt x="8177121" y="4524320"/>
                </a:lnTo>
                <a:lnTo>
                  <a:pt x="0" y="452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21995" y="817245"/>
            <a:ext cx="8300085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Result (Trading Efficiency)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1520190"/>
            <a:ext cx="7494389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 algn="l">
              <a:lnSpc>
                <a:spcPts val="18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C-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index가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낮은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구간의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거래를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제거한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결과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세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모두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b="1" u="sng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거래</a:t>
            </a:r>
            <a:r>
              <a:rPr lang="en-US" sz="1500" b="1" u="sng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500" b="1" u="sng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횟수가</a:t>
            </a:r>
            <a:r>
              <a:rPr lang="en-US" sz="1500" b="1" u="sng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500" b="1" u="sng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약</a:t>
            </a:r>
            <a:r>
              <a:rPr lang="en-US" sz="1500" b="1" u="sng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43-52% </a:t>
            </a:r>
            <a:r>
              <a:rPr lang="en-US" sz="1500" b="1" u="sng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감소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함</a:t>
            </a:r>
            <a:endParaRPr lang="en-US" sz="1500" spc="30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1800"/>
              </a:lnSpc>
              <a:spcBef>
                <a:spcPct val="0"/>
              </a:spcBef>
            </a:pPr>
            <a:endParaRPr lang="en-US" sz="1500" spc="30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323850" lvl="1" indent="-161925" algn="l">
              <a:lnSpc>
                <a:spcPts val="18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횟수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감소는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Turnover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감소로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이어지며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실제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운용에서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거래비용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부담이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줄기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때문에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효율적인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운용이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가능함</a:t>
            </a:r>
            <a:endParaRPr lang="en-US" sz="1500" spc="30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0538" y="2511587"/>
            <a:ext cx="9415245" cy="4072093"/>
          </a:xfrm>
          <a:custGeom>
            <a:avLst/>
            <a:gdLst/>
            <a:ahLst/>
            <a:cxnLst/>
            <a:rect l="l" t="t" r="r" b="b"/>
            <a:pathLst>
              <a:path w="9415245" h="4072093">
                <a:moveTo>
                  <a:pt x="0" y="0"/>
                </a:moveTo>
                <a:lnTo>
                  <a:pt x="9415245" y="0"/>
                </a:lnTo>
                <a:lnTo>
                  <a:pt x="9415245" y="4072093"/>
                </a:lnTo>
                <a:lnTo>
                  <a:pt x="0" y="4072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21995" y="1234009"/>
            <a:ext cx="6819334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Result (Risk Handling)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1995" y="1962396"/>
            <a:ext cx="752319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세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모두에서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Sharpe가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상승하고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Max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Drawdown이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완화되어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수익의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안정성과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하방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위험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관리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측면에서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개선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경향을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500" spc="30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확인하였음</a:t>
            </a:r>
            <a:r>
              <a:rPr lang="en-US" sz="1500" spc="30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.</a:t>
            </a:r>
          </a:p>
          <a:p>
            <a:pPr algn="l">
              <a:lnSpc>
                <a:spcPts val="1800"/>
              </a:lnSpc>
            </a:pPr>
            <a:endParaRPr lang="en-US" sz="1500" spc="30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3042" y="3246952"/>
            <a:ext cx="9274216" cy="4011098"/>
          </a:xfrm>
          <a:custGeom>
            <a:avLst/>
            <a:gdLst/>
            <a:ahLst/>
            <a:cxnLst/>
            <a:rect l="l" t="t" r="r" b="b"/>
            <a:pathLst>
              <a:path w="9274216" h="4011098">
                <a:moveTo>
                  <a:pt x="0" y="0"/>
                </a:moveTo>
                <a:lnTo>
                  <a:pt x="9274216" y="0"/>
                </a:lnTo>
                <a:lnTo>
                  <a:pt x="9274216" y="4011098"/>
                </a:lnTo>
                <a:lnTo>
                  <a:pt x="0" y="4011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21995" y="1510537"/>
            <a:ext cx="7523192" cy="167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성능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개선이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b="1" spc="36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C-index </a:t>
            </a:r>
            <a:r>
              <a:rPr lang="en-US" sz="1800" b="1" spc="36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고유의</a:t>
            </a:r>
            <a:r>
              <a:rPr lang="en-US" sz="1800" b="1" spc="36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800" b="1" spc="36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효과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인지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확인하기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위해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Prediction Confidence Filter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및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Random Count-Matched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Filter와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비교하였음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160"/>
              </a:lnSpc>
            </a:pP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비교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결과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C-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index는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세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모두에서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Confidence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Filter보다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높은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Sharpe를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보였으며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일관성이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거래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선별에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b="1" spc="36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추가</a:t>
            </a:r>
            <a:r>
              <a:rPr lang="en-US" sz="1800" b="1" spc="36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800" b="1" spc="36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정보를</a:t>
            </a:r>
            <a:r>
              <a:rPr lang="en-US" sz="1800" b="1" spc="36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z="1800" b="1" spc="36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제공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할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가능성을</a:t>
            </a:r>
            <a:r>
              <a:rPr lang="en-US" sz="1800" spc="36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z="1800" spc="36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확인하였음</a:t>
            </a:r>
            <a:endParaRPr lang="en-US" sz="1800" spc="36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21995" y="817245"/>
            <a:ext cx="8300085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181739"/>
                </a:solidFill>
                <a:latin typeface="Georgia Pro"/>
                <a:ea typeface="Georgia Pro"/>
                <a:cs typeface="Georgia Pro"/>
                <a:sym typeface="Georgia Pro"/>
              </a:rPr>
              <a:t>Result (Trading Efficiency)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753600" cy="7315200"/>
            <a:chOff x="0" y="0"/>
            <a:chExt cx="3612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12445" cy="2709333"/>
            </a:xfrm>
            <a:custGeom>
              <a:avLst/>
              <a:gdLst/>
              <a:ahLst/>
              <a:cxnLst/>
              <a:rect l="l" t="t" r="r" b="b"/>
              <a:pathLst>
                <a:path w="3612445" h="2709333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ln w="47625" cap="sq">
              <a:solidFill>
                <a:srgbClr val="18173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1244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5627" y="609600"/>
            <a:ext cx="8582345" cy="647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2000" b="1" spc="38" dirty="0">
                <a:solidFill>
                  <a:srgbClr val="18173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Contribution</a:t>
            </a: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금융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성능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개선을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단순히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더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복잡한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모델이나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더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많은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feature를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추가하는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방향으로만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접근하지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않고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,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이미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생성된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신호를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얼마나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신뢰할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있는지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평가하는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후처리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관점의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 Bold"/>
                <a:sym typeface="Georgia Pro Bold"/>
              </a:rPr>
              <a:t>가능성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을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제시하였음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. </a:t>
            </a:r>
          </a:p>
          <a:p>
            <a:pPr marL="208732" lvl="1"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예측</a:t>
            </a:r>
            <a:r>
              <a:rPr lang="en-US" b="1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모델과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실제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운용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의사결정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사이의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간극을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줄이는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실험적</a:t>
            </a:r>
            <a:r>
              <a:rPr lang="en-US" b="1" spc="38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b="1" spc="38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접근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으로서의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의의를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지님</a:t>
            </a: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r>
              <a:rPr lang="en-US" sz="2000" b="1" spc="38" dirty="0">
                <a:solidFill>
                  <a:srgbClr val="18173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Limitation</a:t>
            </a: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특정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기간과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자산군에서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관찰된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exploratory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evidence에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해당</a:t>
            </a: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732" lvl="1"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C-index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후보와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threshold를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비교하는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과정에서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selection bias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가능성</a:t>
            </a: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732" lvl="1"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Agreement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Metric에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쓰인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설명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기법의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수가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2개</a:t>
            </a:r>
          </a:p>
          <a:p>
            <a:pPr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r>
              <a:rPr lang="en-US" sz="2000" b="1" spc="38" dirty="0">
                <a:solidFill>
                  <a:srgbClr val="18173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Future Work</a:t>
            </a: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더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긴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기간과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별도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자산군에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대해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out-of-sample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검증을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수행</a:t>
            </a: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사전에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고정한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C-index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후보와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threshold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정책을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적용하여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편향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완화</a:t>
            </a: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208732" lvl="1"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marL="417464" lvl="1" indent="-208732" algn="l">
              <a:lnSpc>
                <a:spcPts val="2320"/>
              </a:lnSpc>
              <a:buFont typeface="Arial"/>
              <a:buChar char="•"/>
            </a:pP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3개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이상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XAI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기법으로</a:t>
            </a:r>
            <a:r>
              <a:rPr lang="en-US" spc="38" dirty="0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 Agreement Metric </a:t>
            </a:r>
            <a:r>
              <a:rPr lang="en-US" spc="38" dirty="0" err="1">
                <a:solidFill>
                  <a:srgbClr val="18173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Georgia Pro"/>
                <a:sym typeface="Georgia Pro"/>
              </a:rPr>
              <a:t>일반화</a:t>
            </a:r>
            <a:endParaRPr lang="en-US" spc="38" dirty="0">
              <a:solidFill>
                <a:srgbClr val="18173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Georgia Pro"/>
              <a:sym typeface="Georgia Pro"/>
            </a:endParaRPr>
          </a:p>
          <a:p>
            <a:pPr algn="l">
              <a:lnSpc>
                <a:spcPts val="2320"/>
              </a:lnSpc>
            </a:pPr>
            <a:endParaRPr lang="en-US" spc="38" dirty="0">
              <a:solidFill>
                <a:srgbClr val="181739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571</Words>
  <Application>Microsoft Macintosh PowerPoint</Application>
  <PresentationFormat>사용자 지정</PresentationFormat>
  <Paragraphs>97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Georgia Pro</vt:lpstr>
      <vt:lpstr>Georgia Pro Bold</vt:lpstr>
      <vt:lpstr>Arial</vt:lpstr>
      <vt:lpstr>Malgun Gothic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C-index</dc:title>
  <cp:lastModifiedBy>강병오</cp:lastModifiedBy>
  <cp:revision>3</cp:revision>
  <dcterms:created xsi:type="dcterms:W3CDTF">2006-08-16T00:00:00Z</dcterms:created>
  <dcterms:modified xsi:type="dcterms:W3CDTF">2026-05-13T05:33:37Z</dcterms:modified>
  <dc:identifier>DAHJcRLXvrs</dc:identifier>
</cp:coreProperties>
</file>